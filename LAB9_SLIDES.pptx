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9 adds vision-based object selection to a MoveIt pick-and-place pipeline on the myCobot 280 Pi. We show what the lab asks, how we solved it, and which deliverables are done, partly done or open.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0 is the baseline: the original system as delivered. The two tasks build on each other: vision recognises colour and shape, the object interface lets the brain ask for exactly that object and pick it by its id.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flow for one pick: the camera publishes images, vision finds the objects and answers /get_object, the brain adds them to MoveIt's planning scene and sends goals; MoveIt plans, the controller on the Pi executes over serial and switches the pump. Joint states go back from the controller to MoveIt.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colour gets its own mask; the contour of each blob gives circularity, fill and the number of corners. Fill separates squares (0.64) from circles (1.0) better than circularity, which pixel noise lowers for both. Objects that fall between the limits are labelled unknown instead of being forced into a class.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10-09 the full chain ran on the real robot. Fixes that day: contact 9 mm lower, pump on at hover with a 1 s dwell, bins approached at hover height, MoveIt error 99999 retried. Last run: 3 of 3 placed; the previous run also 3 of 3. The xy difference is a constant offset of about +5.6 mm in y that we still need to explain.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Implementation of both tasks is in place and runs on the robot; what is missing is mostly evidence: the Part 0 baseline, the query table and ruler positions, and the comparison of the extended with the original system.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933"/>
        </a:solidFill>
        <a:effectLst/>
      </p:bgPr>
    </p:bg>
    <p:spTree>
      <p:nvGrpSpPr>
        <p:cNvPr id="1" name=""/>
        <p:cNvGrpSpPr/>
        <p:nvPr/>
      </p:nvGrpSpPr>
      <p:grpSpPr/>
      <p:sp>
        <p:nvSpPr>
          <p:cNvPr id="2" name="Oval 1"/>
          <p:cNvSpPr/>
          <p:nvPr/>
        </p:nvSpPr>
        <p:spPr>
          <a:xfrm>
            <a:off x="548640" y="1143000"/>
            <a:ext cx="292608" cy="292608"/>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3" name="Oval 2"/>
          <p:cNvSpPr/>
          <p:nvPr/>
        </p:nvSpPr>
        <p:spPr>
          <a:xfrm>
            <a:off x="960120" y="1143000"/>
            <a:ext cx="292608" cy="292608"/>
          </a:xfrm>
          <a:prstGeom prst="ellipse">
            <a:avLst/>
          </a:prstGeom>
          <a:solidFill>
            <a:srgbClr val="E8A8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4" name="Oval 3"/>
          <p:cNvSpPr/>
          <p:nvPr/>
        </p:nvSpPr>
        <p:spPr>
          <a:xfrm>
            <a:off x="1371600" y="1143000"/>
            <a:ext cx="292608" cy="292608"/>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5" name="TextBox 4"/>
          <p:cNvSpPr txBox="1"/>
          <p:nvPr/>
        </p:nvSpPr>
        <p:spPr>
          <a:xfrm>
            <a:off x="548640" y="1691640"/>
            <a:ext cx="6035040" cy="1737360"/>
          </a:xfrm>
          <a:prstGeom prst="rect">
            <a:avLst/>
          </a:prstGeom>
          <a:noFill/>
        </p:spPr>
        <p:txBody>
          <a:bodyPr wrap="square" anchor="t" lIns="45720" rIns="45720">
            <a:spAutoFit/>
          </a:bodyPr>
          <a:lstStyle/>
          <a:p>
            <a:pPr algn="l">
              <a:spcAft>
                <a:spcPts val="600"/>
              </a:spcAft>
            </a:pPr>
            <a:r>
              <a:rPr sz="4000" b="1">
                <a:solidFill>
                  <a:srgbClr val="FFFFFF"/>
                </a:solidFill>
                <a:latin typeface="Calibri"/>
              </a:rPr>
              <a:t>Lab 9 – Pick and Place with MoveIt</a:t>
            </a:r>
          </a:p>
        </p:txBody>
      </p:sp>
      <p:sp>
        <p:nvSpPr>
          <p:cNvPr id="6" name="TextBox 5"/>
          <p:cNvSpPr txBox="1"/>
          <p:nvPr/>
        </p:nvSpPr>
        <p:spPr>
          <a:xfrm>
            <a:off x="548640" y="3429000"/>
            <a:ext cx="6035040" cy="914400"/>
          </a:xfrm>
          <a:prstGeom prst="rect">
            <a:avLst/>
          </a:prstGeom>
          <a:noFill/>
        </p:spPr>
        <p:txBody>
          <a:bodyPr wrap="square" anchor="t" lIns="45720" rIns="45720">
            <a:spAutoFit/>
          </a:bodyPr>
          <a:lstStyle/>
          <a:p>
            <a:pPr algn="l">
              <a:spcAft>
                <a:spcPts val="600"/>
              </a:spcAft>
            </a:pPr>
            <a:r>
              <a:rPr sz="2200" b="0">
                <a:solidFill>
                  <a:srgbClr val="DDE3E9"/>
                </a:solidFill>
                <a:latin typeface="Calibri"/>
              </a:rPr>
              <a:t>Tasks, method and status of our deliverables</a:t>
            </a:r>
          </a:p>
        </p:txBody>
      </p:sp>
      <p:sp>
        <p:nvSpPr>
          <p:cNvPr id="7" name="TextBox 6"/>
          <p:cNvSpPr txBox="1"/>
          <p:nvPr/>
        </p:nvSpPr>
        <p:spPr>
          <a:xfrm>
            <a:off x="548640" y="4846320"/>
            <a:ext cx="6035040" cy="914400"/>
          </a:xfrm>
          <a:prstGeom prst="rect">
            <a:avLst/>
          </a:prstGeom>
          <a:noFill/>
        </p:spPr>
        <p:txBody>
          <a:bodyPr wrap="square" anchor="t" lIns="45720" rIns="45720">
            <a:spAutoFit/>
          </a:bodyPr>
          <a:lstStyle/>
          <a:p>
            <a:pPr algn="l">
              <a:spcAft>
                <a:spcPts val="200"/>
              </a:spcAft>
            </a:pPr>
            <a:r>
              <a:rPr sz="1400" b="0">
                <a:solidFill>
                  <a:srgbClr val="B8C2CC"/>
                </a:solidFill>
                <a:latin typeface="Calibri"/>
              </a:rPr>
              <a:t>CoRobot Lab, TU Dortmund</a:t>
            </a:r>
          </a:p>
          <a:p>
            <a:pPr algn="l">
              <a:spcAft>
                <a:spcPts val="200"/>
              </a:spcAft>
            </a:pPr>
            <a:r>
              <a:rPr sz="1400" b="0">
                <a:solidFill>
                  <a:srgbClr val="B8C2CC"/>
                </a:solidFill>
                <a:latin typeface="Calibri"/>
              </a:rPr>
              <a:t>myCobot 280 Pi · vacuum pump · USB camera · ROS 2 Jazzy + MoveIt 2</a:t>
            </a:r>
          </a:p>
        </p:txBody>
      </p:sp>
      <p:pic>
        <p:nvPicPr>
          <p:cNvPr id="8" name="Picture 7" descr="title_setup.png"/>
          <p:cNvPicPr>
            <a:picLocks noChangeAspect="1"/>
          </p:cNvPicPr>
          <p:nvPr/>
        </p:nvPicPr>
        <p:blipFill>
          <a:blip r:embed="rId2"/>
          <a:stretch>
            <a:fillRect/>
          </a:stretch>
        </p:blipFill>
        <p:spPr>
          <a:xfrm>
            <a:off x="7086600" y="914400"/>
            <a:ext cx="4572000" cy="3325091"/>
          </a:xfrm>
          <a:prstGeom prst="rect">
            <a:avLst/>
          </a:prstGeom>
        </p:spPr>
      </p:pic>
      <p:sp>
        <p:nvSpPr>
          <p:cNvPr id="9" name="TextBox 8"/>
          <p:cNvSpPr txBox="1"/>
          <p:nvPr/>
        </p:nvSpPr>
        <p:spPr>
          <a:xfrm>
            <a:off x="7086600" y="4206240"/>
            <a:ext cx="4572000" cy="320040"/>
          </a:xfrm>
          <a:prstGeom prst="rect">
            <a:avLst/>
          </a:prstGeom>
          <a:noFill/>
        </p:spPr>
        <p:txBody>
          <a:bodyPr wrap="square" anchor="t" lIns="45720" rIns="45720">
            <a:spAutoFit/>
          </a:bodyPr>
          <a:lstStyle/>
          <a:p>
            <a:pPr algn="l">
              <a:spcAft>
                <a:spcPts val="600"/>
              </a:spcAft>
            </a:pPr>
            <a:r>
              <a:rPr sz="1100" b="0">
                <a:solidFill>
                  <a:srgbClr val="B8C2CC"/>
                </a:solidFill>
                <a:latin typeface="Calibri"/>
              </a:rPr>
              <a:t>Our table: plate with 2 ArUco markers, bins on the right</a:t>
            </a:r>
          </a:p>
        </p:txBody>
      </p:sp>
      <p:sp>
        <p:nvSpPr>
          <p:cNvPr id="10" name="TextBox 9"/>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a:solidFill>
                  <a:srgbClr val="B8C2CC"/>
                </a:solidFill>
                <a:latin typeface="Calibri"/>
              </a:rPr>
              <a:t>Lab 9 – Pick and Place with MoveIt · status 2026-10-11</a:t>
            </a:r>
          </a:p>
        </p:txBody>
      </p:sp>
      <p:sp>
        <p:nvSpPr>
          <p:cNvPr id="11" name="TextBox 10"/>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a:solidFill>
                  <a:srgbClr val="B8C2CC"/>
                </a:solidFill>
                <a:latin typeface="Calibri"/>
              </a:rPr>
              <a:t>1 /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731520"/>
          </a:xfrm>
          <a:prstGeom prst="rect">
            <a:avLst/>
          </a:prstGeom>
          <a:noFill/>
        </p:spPr>
        <p:txBody>
          <a:bodyPr wrap="square" anchor="t" lIns="45720" rIns="45720">
            <a:spAutoFit/>
          </a:bodyPr>
          <a:lstStyle/>
          <a:p>
            <a:pPr algn="l">
              <a:spcAft>
                <a:spcPts val="600"/>
              </a:spcAft>
            </a:pPr>
            <a:r>
              <a:rPr sz="3400" b="1">
                <a:solidFill>
                  <a:srgbClr val="1F2933"/>
                </a:solidFill>
                <a:latin typeface="Calibri"/>
              </a:rPr>
              <a:t>What the lab asks: Part 0 plus two of five tasks</a:t>
            </a:r>
          </a:p>
        </p:txBody>
      </p:sp>
      <p:sp>
        <p:nvSpPr>
          <p:cNvPr id="3" name="Subtitle"/>
          <p:cNvSpPr txBox="1"/>
          <p:nvPr/>
        </p:nvSpPr>
        <p:spPr>
          <a:xfrm>
            <a:off x="548640" y="1024128"/>
            <a:ext cx="11064240" cy="411480"/>
          </a:xfrm>
          <a:prstGeom prst="rect">
            <a:avLst/>
          </a:prstGeom>
          <a:noFill/>
        </p:spPr>
        <p:txBody>
          <a:bodyPr wrap="square" anchor="t" lIns="45720" rIns="45720">
            <a:spAutoFit/>
          </a:bodyPr>
          <a:lstStyle/>
          <a:p>
            <a:pPr algn="l">
              <a:spcAft>
                <a:spcPts val="600"/>
              </a:spcAft>
            </a:pPr>
            <a:r>
              <a:rPr sz="1600" b="0">
                <a:solidFill>
                  <a:srgbClr val="5B6770"/>
                </a:solidFill>
                <a:latin typeface="Calibri"/>
              </a:rPr>
              <a:t>PDF Pick and Place (Sep 23): Part 0 is required; we chose the two tasks that extend the same object query</a:t>
            </a:r>
          </a:p>
        </p:txBody>
      </p:sp>
      <p:sp>
        <p:nvSpPr>
          <p:cNvPr id="4" name="Card 0"/>
          <p:cNvSpPr/>
          <p:nvPr/>
        </p:nvSpPr>
        <p:spPr>
          <a:xfrm>
            <a:off x="548640" y="1737360"/>
            <a:ext cx="3474720" cy="393192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1965960"/>
            <a:ext cx="548640" cy="548640"/>
          </a:xfrm>
          <a:prstGeom prst="ellipse">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0</a:t>
            </a:r>
          </a:p>
        </p:txBody>
      </p:sp>
      <p:sp>
        <p:nvSpPr>
          <p:cNvPr id="6" name="TextBox 5"/>
          <p:cNvSpPr txBox="1"/>
          <p:nvPr/>
        </p:nvSpPr>
        <p:spPr>
          <a:xfrm>
            <a:off x="1508760" y="1920240"/>
            <a:ext cx="2423160" cy="685800"/>
          </a:xfrm>
          <a:prstGeom prst="rect">
            <a:avLst/>
          </a:prstGeom>
          <a:noFill/>
        </p:spPr>
        <p:txBody>
          <a:bodyPr wrap="square" anchor="t" lIns="45720" rIns="45720">
            <a:spAutoFit/>
          </a:bodyPr>
          <a:lstStyle/>
          <a:p>
            <a:pPr algn="l">
              <a:spcAft>
                <a:spcPts val="600"/>
              </a:spcAft>
            </a:pPr>
            <a:r>
              <a:rPr sz="1700" b="1">
                <a:solidFill>
                  <a:srgbClr val="1F2933"/>
                </a:solidFill>
                <a:latin typeface="Calibri"/>
              </a:rPr>
              <a:t>Part 0 – Explore the original system</a:t>
            </a:r>
          </a:p>
        </p:txBody>
      </p:sp>
      <p:sp>
        <p:nvSpPr>
          <p:cNvPr id="7" name="TextBox 6"/>
          <p:cNvSpPr txBox="1"/>
          <p:nvPr/>
        </p:nvSpPr>
        <p:spPr>
          <a:xfrm>
            <a:off x="1508760" y="2606040"/>
            <a:ext cx="2423160" cy="320040"/>
          </a:xfrm>
          <a:prstGeom prst="rect">
            <a:avLst/>
          </a:prstGeom>
          <a:noFill/>
        </p:spPr>
        <p:txBody>
          <a:bodyPr wrap="square" anchor="t" lIns="45720" rIns="45720">
            <a:spAutoFit/>
          </a:bodyPr>
          <a:lstStyle/>
          <a:p>
            <a:pPr algn="l">
              <a:spcAft>
                <a:spcPts val="600"/>
              </a:spcAft>
            </a:pPr>
            <a:r>
              <a:rPr sz="1200" b="0">
                <a:solidFill>
                  <a:srgbClr val="5B6770"/>
                </a:solidFill>
                <a:latin typeface="Calibri"/>
              </a:rPr>
              <a:t>required · p. 14</a:t>
            </a:r>
          </a:p>
        </p:txBody>
      </p:sp>
      <p:sp>
        <p:nvSpPr>
          <p:cNvPr id="8" name="TextBox 7"/>
          <p:cNvSpPr txBox="1"/>
          <p:nvPr/>
        </p:nvSpPr>
        <p:spPr>
          <a:xfrm>
            <a:off x="822959" y="3108960"/>
            <a:ext cx="3017520" cy="2926080"/>
          </a:xfrm>
          <a:prstGeom prst="rect">
            <a:avLst/>
          </a:prstGeom>
          <a:noFill/>
        </p:spPr>
        <p:txBody>
          <a:bodyPr wrap="square" anchor="t" lIns="45720" rIns="45720">
            <a:spAutoFit/>
          </a:bodyPr>
          <a:lstStyle/>
          <a:p>
            <a:pPr algn="l">
              <a:spcAft>
                <a:spcPts val="1000"/>
              </a:spcAft>
            </a:pPr>
            <a:r>
              <a:rPr sz="1400" b="0">
                <a:solidFill>
                  <a:srgbClr val="1F2933"/>
                </a:solidFill>
                <a:latin typeface="Calibri"/>
              </a:rPr>
              <a:t>•  Run the course nodes: sort (mode 2) and stack (mode 1)</a:t>
            </a:r>
          </a:p>
          <a:p>
            <a:pPr algn="l">
              <a:spcAft>
                <a:spcPts val="1000"/>
              </a:spcAft>
            </a:pPr>
            <a:r>
              <a:rPr sz="1400" b="0">
                <a:solidFill>
                  <a:srgbClr val="1F2933"/>
                </a:solidFill>
                <a:latin typeface="Calibri"/>
              </a:rPr>
              <a:t>•  Record positions, choices, bins, outcomes</a:t>
            </a:r>
          </a:p>
          <a:p>
            <a:pPr algn="l">
              <a:spcAft>
                <a:spcPts val="1000"/>
              </a:spcAft>
            </a:pPr>
            <a:r>
              <a:rPr sz="1400" b="0">
                <a:solidFill>
                  <a:srgbClr val="1F2933"/>
                </a:solidFill>
                <a:latin typeface="Calibri"/>
              </a:rPr>
              <a:t>•  Name at least 2 limitations</a:t>
            </a:r>
          </a:p>
          <a:p>
            <a:pPr algn="l">
              <a:spcAft>
                <a:spcPts val="1000"/>
              </a:spcAft>
            </a:pPr>
            <a:r>
              <a:rPr sz="1400" b="0">
                <a:solidFill>
                  <a:srgbClr val="1F2933"/>
                </a:solidFill>
                <a:latin typeface="Calibri"/>
              </a:rPr>
              <a:t>•  Data flow: camera image → pick-and-place</a:t>
            </a:r>
          </a:p>
        </p:txBody>
      </p:sp>
      <p:sp>
        <p:nvSpPr>
          <p:cNvPr id="9" name="Card 1"/>
          <p:cNvSpPr/>
          <p:nvPr/>
        </p:nvSpPr>
        <p:spPr>
          <a:xfrm>
            <a:off x="4297679" y="1737360"/>
            <a:ext cx="3474720" cy="393192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71999" y="1965960"/>
            <a:ext cx="548640" cy="548640"/>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11" name="TextBox 10"/>
          <p:cNvSpPr txBox="1"/>
          <p:nvPr/>
        </p:nvSpPr>
        <p:spPr>
          <a:xfrm>
            <a:off x="5257799" y="1920240"/>
            <a:ext cx="2423160" cy="685800"/>
          </a:xfrm>
          <a:prstGeom prst="rect">
            <a:avLst/>
          </a:prstGeom>
          <a:noFill/>
        </p:spPr>
        <p:txBody>
          <a:bodyPr wrap="square" anchor="t" lIns="45720" rIns="45720">
            <a:spAutoFit/>
          </a:bodyPr>
          <a:lstStyle/>
          <a:p>
            <a:pPr algn="l">
              <a:spcAft>
                <a:spcPts val="600"/>
              </a:spcAft>
            </a:pPr>
            <a:r>
              <a:rPr sz="1700" b="1">
                <a:solidFill>
                  <a:srgbClr val="1F2933"/>
                </a:solidFill>
                <a:latin typeface="Calibri"/>
              </a:rPr>
              <a:t>Task – Detect object colour and shape</a:t>
            </a:r>
          </a:p>
        </p:txBody>
      </p:sp>
      <p:sp>
        <p:nvSpPr>
          <p:cNvPr id="12" name="TextBox 11"/>
          <p:cNvSpPr txBox="1"/>
          <p:nvPr/>
        </p:nvSpPr>
        <p:spPr>
          <a:xfrm>
            <a:off x="5257799" y="2606040"/>
            <a:ext cx="2423160" cy="320040"/>
          </a:xfrm>
          <a:prstGeom prst="rect">
            <a:avLst/>
          </a:prstGeom>
          <a:noFill/>
        </p:spPr>
        <p:txBody>
          <a:bodyPr wrap="square" anchor="t" lIns="45720" rIns="45720">
            <a:spAutoFit/>
          </a:bodyPr>
          <a:lstStyle/>
          <a:p>
            <a:pPr algn="l">
              <a:spcAft>
                <a:spcPts val="600"/>
              </a:spcAft>
            </a:pPr>
            <a:r>
              <a:rPr sz="1200" b="0">
                <a:solidFill>
                  <a:srgbClr val="5B6770"/>
                </a:solidFill>
                <a:latin typeface="Calibri"/>
              </a:rPr>
              <a:t>pp. 22–25</a:t>
            </a:r>
          </a:p>
        </p:txBody>
      </p:sp>
      <p:sp>
        <p:nvSpPr>
          <p:cNvPr id="13" name="TextBox 12"/>
          <p:cNvSpPr txBox="1"/>
          <p:nvPr/>
        </p:nvSpPr>
        <p:spPr>
          <a:xfrm>
            <a:off x="4571999" y="3108960"/>
            <a:ext cx="3017520" cy="2926080"/>
          </a:xfrm>
          <a:prstGeom prst="rect">
            <a:avLst/>
          </a:prstGeom>
          <a:noFill/>
        </p:spPr>
        <p:txBody>
          <a:bodyPr wrap="square" anchor="t" lIns="45720" rIns="45720">
            <a:spAutoFit/>
          </a:bodyPr>
          <a:lstStyle/>
          <a:p>
            <a:pPr algn="l">
              <a:spcAft>
                <a:spcPts val="1000"/>
              </a:spcAft>
            </a:pPr>
            <a:r>
              <a:rPr sz="1400" b="0">
                <a:solidFill>
                  <a:srgbClr val="1F2933"/>
                </a:solidFill>
                <a:latin typeface="Calibri"/>
              </a:rPr>
              <a:t>•  Mask per colour; area, perimeter, circularity, vertices</a:t>
            </a:r>
          </a:p>
          <a:p>
            <a:pPr algn="l">
              <a:spcAft>
                <a:spcPts val="1000"/>
              </a:spcAft>
            </a:pPr>
            <a:r>
              <a:rPr sz="1400" b="0">
                <a:solidFill>
                  <a:srgbClr val="1F2933"/>
                </a:solidFill>
                <a:latin typeface="Calibri"/>
              </a:rPr>
              <a:t>•  Cube / cylinder / unknown, thresholds from our camera</a:t>
            </a:r>
          </a:p>
          <a:p>
            <a:pPr algn="l">
              <a:spcAft>
                <a:spcPts val="1000"/>
              </a:spcAft>
            </a:pPr>
            <a:r>
              <a:rPr sz="1400" b="0">
                <a:solidFill>
                  <a:srgbClr val="1F2933"/>
                </a:solidFill>
                <a:latin typeface="Calibri"/>
              </a:rPr>
              <a:t>•  Several objects per colour, labels + centres</a:t>
            </a:r>
          </a:p>
          <a:p>
            <a:pPr algn="l">
              <a:spcAft>
                <a:spcPts val="1000"/>
              </a:spcAft>
            </a:pPr>
            <a:r>
              <a:rPr sz="1400" b="0">
                <a:solidFill>
                  <a:srgbClr val="1F2933"/>
                </a:solidFill>
                <a:latin typeface="Calibri"/>
              </a:rPr>
              <a:t>•  Queries: existing, absent, several; 1 uncertain case</a:t>
            </a:r>
          </a:p>
        </p:txBody>
      </p:sp>
      <p:sp>
        <p:nvSpPr>
          <p:cNvPr id="14" name="Card 2"/>
          <p:cNvSpPr/>
          <p:nvPr/>
        </p:nvSpPr>
        <p:spPr>
          <a:xfrm>
            <a:off x="8046719" y="1737360"/>
            <a:ext cx="3474720" cy="393192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21040" y="1965960"/>
            <a:ext cx="548640" cy="548640"/>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6" name="TextBox 15"/>
          <p:cNvSpPr txBox="1"/>
          <p:nvPr/>
        </p:nvSpPr>
        <p:spPr>
          <a:xfrm>
            <a:off x="9006840" y="1920240"/>
            <a:ext cx="2423160" cy="685800"/>
          </a:xfrm>
          <a:prstGeom prst="rect">
            <a:avLst/>
          </a:prstGeom>
          <a:noFill/>
        </p:spPr>
        <p:txBody>
          <a:bodyPr wrap="square" anchor="t" lIns="45720" rIns="45720">
            <a:spAutoFit/>
          </a:bodyPr>
          <a:lstStyle/>
          <a:p>
            <a:pPr algn="l">
              <a:spcAft>
                <a:spcPts val="600"/>
              </a:spcAft>
            </a:pPr>
            <a:r>
              <a:rPr sz="1700" b="1">
                <a:solidFill>
                  <a:srgbClr val="1F2933"/>
                </a:solidFill>
                <a:latin typeface="Calibri"/>
              </a:rPr>
              <a:t>Task – Extend the object interface</a:t>
            </a:r>
          </a:p>
        </p:txBody>
      </p:sp>
      <p:sp>
        <p:nvSpPr>
          <p:cNvPr id="17" name="TextBox 16"/>
          <p:cNvSpPr txBox="1"/>
          <p:nvPr/>
        </p:nvSpPr>
        <p:spPr>
          <a:xfrm>
            <a:off x="9006840" y="2606040"/>
            <a:ext cx="2423160" cy="320040"/>
          </a:xfrm>
          <a:prstGeom prst="rect">
            <a:avLst/>
          </a:prstGeom>
          <a:noFill/>
        </p:spPr>
        <p:txBody>
          <a:bodyPr wrap="square" anchor="t" lIns="45720" rIns="45720">
            <a:spAutoFit/>
          </a:bodyPr>
          <a:lstStyle/>
          <a:p>
            <a:pPr algn="l">
              <a:spcAft>
                <a:spcPts val="600"/>
              </a:spcAft>
            </a:pPr>
            <a:r>
              <a:rPr sz="1200" b="0">
                <a:solidFill>
                  <a:srgbClr val="5B6770"/>
                </a:solidFill>
                <a:latin typeface="Calibri"/>
              </a:rPr>
              <a:t>pp. 20–22</a:t>
            </a:r>
          </a:p>
        </p:txBody>
      </p:sp>
      <p:sp>
        <p:nvSpPr>
          <p:cNvPr id="18" name="TextBox 17"/>
          <p:cNvSpPr txBox="1"/>
          <p:nvPr/>
        </p:nvSpPr>
        <p:spPr>
          <a:xfrm>
            <a:off x="8321040" y="3108960"/>
            <a:ext cx="3017520" cy="2926080"/>
          </a:xfrm>
          <a:prstGeom prst="rect">
            <a:avLst/>
          </a:prstGeom>
          <a:noFill/>
        </p:spPr>
        <p:txBody>
          <a:bodyPr wrap="square" anchor="t" lIns="45720" rIns="45720">
            <a:spAutoFit/>
          </a:bodyPr>
          <a:lstStyle/>
          <a:p>
            <a:pPr algn="l">
              <a:spcAft>
                <a:spcPts val="1000"/>
              </a:spcAft>
            </a:pPr>
            <a:r>
              <a:rPr sz="1400" b="0">
                <a:solidFill>
                  <a:srgbClr val="1F2933"/>
                </a:solidFill>
                <a:latin typeface="Calibri"/>
              </a:rPr>
              <a:t>•  Service by colour + shape → found, unique id, pose</a:t>
            </a:r>
          </a:p>
          <a:p>
            <a:pPr algn="l">
              <a:spcAft>
                <a:spcPts val="1000"/>
              </a:spcAft>
            </a:pPr>
            <a:r>
              <a:rPr sz="1400" b="0">
                <a:solidFill>
                  <a:srgbClr val="1F2933"/>
                </a:solidFill>
                <a:latin typeface="Calibri"/>
              </a:rPr>
              <a:t>•  BOX / CYLINDER scene objects, one id end to end</a:t>
            </a:r>
          </a:p>
          <a:p>
            <a:pPr algn="l">
              <a:spcAft>
                <a:spcPts val="1000"/>
              </a:spcAft>
            </a:pPr>
            <a:r>
              <a:rPr sz="1400" b="0">
                <a:solidFill>
                  <a:srgbClr val="1F2933"/>
                </a:solidFill>
                <a:latin typeface="Calibri"/>
              </a:rPr>
              <a:t>•  Menu lists matches; loops instead of recursion</a:t>
            </a:r>
          </a:p>
          <a:p>
            <a:pPr algn="l">
              <a:spcAft>
                <a:spcPts val="1000"/>
              </a:spcAft>
            </a:pPr>
            <a:r>
              <a:rPr sz="1400" b="0">
                <a:solidFill>
                  <a:srgbClr val="1F2933"/>
                </a:solidFill>
                <a:latin typeface="Calibri"/>
              </a:rPr>
              <a:t>•  Compare with the original system</a:t>
            </a:r>
          </a:p>
        </p:txBody>
      </p:sp>
      <p:sp>
        <p:nvSpPr>
          <p:cNvPr id="19" name="TextBox 18"/>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a:solidFill>
                  <a:srgbClr val="5B6770"/>
                </a:solidFill>
                <a:latin typeface="Calibri"/>
              </a:rPr>
              <a:t>Lab 9 – Pick and Place with MoveIt · status 2026-10-11</a:t>
            </a:r>
          </a:p>
        </p:txBody>
      </p:sp>
      <p:sp>
        <p:nvSpPr>
          <p:cNvPr id="20" name="TextBox 19"/>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a:solidFill>
                  <a:srgbClr val="5B6770"/>
                </a:solidFill>
                <a:latin typeface="Calibri"/>
              </a:rPr>
              <a:t>2 /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731520"/>
          </a:xfrm>
          <a:prstGeom prst="rect">
            <a:avLst/>
          </a:prstGeom>
          <a:noFill/>
        </p:spPr>
        <p:txBody>
          <a:bodyPr wrap="square" anchor="t" lIns="45720" rIns="45720">
            <a:spAutoFit/>
          </a:bodyPr>
          <a:lstStyle/>
          <a:p>
            <a:pPr algn="l">
              <a:spcAft>
                <a:spcPts val="600"/>
              </a:spcAft>
            </a:pPr>
            <a:r>
              <a:rPr sz="3400" b="1">
                <a:solidFill>
                  <a:srgbClr val="1F2933"/>
                </a:solidFill>
                <a:latin typeface="Calibri"/>
              </a:rPr>
              <a:t>Method: our packages on the course system</a:t>
            </a:r>
          </a:p>
        </p:txBody>
      </p:sp>
      <p:sp>
        <p:nvSpPr>
          <p:cNvPr id="3" name="Subtitle"/>
          <p:cNvSpPr txBox="1"/>
          <p:nvPr/>
        </p:nvSpPr>
        <p:spPr>
          <a:xfrm>
            <a:off x="548640" y="1024128"/>
            <a:ext cx="11064240" cy="411480"/>
          </a:xfrm>
          <a:prstGeom prst="rect">
            <a:avLst/>
          </a:prstGeom>
          <a:noFill/>
        </p:spPr>
        <p:txBody>
          <a:bodyPr wrap="square" anchor="t" lIns="45720" rIns="45720">
            <a:spAutoFit/>
          </a:bodyPr>
          <a:lstStyle/>
          <a:p>
            <a:pPr algn="l">
              <a:spcAft>
                <a:spcPts val="600"/>
              </a:spcAft>
            </a:pPr>
            <a:r>
              <a:rPr sz="1600" b="0">
                <a:solidFill>
                  <a:srgbClr val="5B6770"/>
                </a:solidFill>
                <a:latin typeface="Calibri"/>
              </a:rPr>
              <a:t>lab9_interfaces + lab9_pick_place; the course packages stay unchanged, so Part 0 still runs the original</a:t>
            </a:r>
          </a:p>
        </p:txBody>
      </p:sp>
      <p:sp>
        <p:nvSpPr>
          <p:cNvPr id="4" name="Camera"/>
          <p:cNvSpPr/>
          <p:nvPr/>
        </p:nvSpPr>
        <p:spPr>
          <a:xfrm>
            <a:off x="548640" y="1965960"/>
            <a:ext cx="1508760" cy="1143000"/>
          </a:xfrm>
          <a:prstGeom prst="roundRect">
            <a:avLst>
              <a:gd name="adj" fmla="val 8000"/>
            </a:avLst>
          </a:prstGeom>
          <a:solidFill>
            <a:srgbClr val="5B67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FFFFFF"/>
                </a:solidFill>
                <a:latin typeface="Calibri"/>
              </a:rPr>
              <a:t>Camera</a:t>
            </a:r>
          </a:p>
          <a:p>
            <a:pPr algn="ctr"/>
            <a:r>
              <a:rPr sz="1100">
                <a:solidFill>
                  <a:srgbClr val="EEF1F4"/>
                </a:solidFill>
                <a:latin typeface="Calibri"/>
              </a:rPr>
              <a:t>opencv_camera
(course)</a:t>
            </a:r>
          </a:p>
        </p:txBody>
      </p:sp>
      <p:sp>
        <p:nvSpPr>
          <p:cNvPr id="5" name="Right Arrow 4"/>
          <p:cNvSpPr/>
          <p:nvPr/>
        </p:nvSpPr>
        <p:spPr>
          <a:xfrm>
            <a:off x="2121408" y="2423160"/>
            <a:ext cx="274320" cy="228600"/>
          </a:xfrm>
          <a:prstGeom prst="rightArrow">
            <a:avLst/>
          </a:prstGeom>
          <a:solidFill>
            <a:srgbClr val="9AA5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0" y="3200400"/>
            <a:ext cx="1225296" cy="548640"/>
          </a:xfrm>
          <a:prstGeom prst="rect">
            <a:avLst/>
          </a:prstGeom>
          <a:noFill/>
        </p:spPr>
        <p:txBody>
          <a:bodyPr wrap="square" anchor="t" lIns="45720" rIns="45720">
            <a:spAutoFit/>
          </a:bodyPr>
          <a:lstStyle/>
          <a:p>
            <a:pPr algn="ctr">
              <a:spcAft>
                <a:spcPts val="0"/>
              </a:spcAft>
            </a:pPr>
            <a:r>
              <a:rPr sz="1000" b="0">
                <a:solidFill>
                  <a:srgbClr val="5B6770"/>
                </a:solidFill>
                <a:latin typeface="Calibri"/>
              </a:rPr>
              <a:t>camera/image</a:t>
            </a:r>
          </a:p>
        </p:txBody>
      </p:sp>
      <p:sp>
        <p:nvSpPr>
          <p:cNvPr id="7" name="vision_lab9"/>
          <p:cNvSpPr/>
          <p:nvPr/>
        </p:nvSpPr>
        <p:spPr>
          <a:xfrm>
            <a:off x="2459736" y="1965960"/>
            <a:ext cx="1508760" cy="1143000"/>
          </a:xfrm>
          <a:prstGeom prst="roundRect">
            <a:avLst>
              <a:gd name="adj" fmla="val 8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FFFFFF"/>
                </a:solidFill>
                <a:latin typeface="Calibri"/>
              </a:rPr>
              <a:t>vision_lab9</a:t>
            </a:r>
          </a:p>
          <a:p>
            <a:pPr algn="ctr"/>
            <a:r>
              <a:rPr sz="1100">
                <a:solidFill>
                  <a:srgbClr val="EEF1F4"/>
                </a:solidFill>
                <a:latin typeface="Calibri"/>
              </a:rPr>
              <a:t>markers, colour,
shape, ids</a:t>
            </a:r>
          </a:p>
        </p:txBody>
      </p:sp>
      <p:sp>
        <p:nvSpPr>
          <p:cNvPr id="8" name="Right Arrow 7"/>
          <p:cNvSpPr/>
          <p:nvPr/>
        </p:nvSpPr>
        <p:spPr>
          <a:xfrm>
            <a:off x="4032504" y="2423160"/>
            <a:ext cx="274320" cy="228600"/>
          </a:xfrm>
          <a:prstGeom prst="rightArrow">
            <a:avLst/>
          </a:prstGeom>
          <a:solidFill>
            <a:srgbClr val="9AA5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57015" y="3200400"/>
            <a:ext cx="1225296" cy="548640"/>
          </a:xfrm>
          <a:prstGeom prst="rect">
            <a:avLst/>
          </a:prstGeom>
          <a:noFill/>
        </p:spPr>
        <p:txBody>
          <a:bodyPr wrap="square" anchor="t" lIns="45720" rIns="45720">
            <a:spAutoFit/>
          </a:bodyPr>
          <a:lstStyle/>
          <a:p>
            <a:pPr algn="ctr">
              <a:spcAft>
                <a:spcPts val="0"/>
              </a:spcAft>
            </a:pPr>
            <a:r>
              <a:rPr sz="1000" b="0">
                <a:solidFill>
                  <a:srgbClr val="5B6770"/>
                </a:solidFill>
                <a:latin typeface="Calibri"/>
              </a:rPr>
              <a:t>/get_object</a:t>
            </a:r>
          </a:p>
        </p:txBody>
      </p:sp>
      <p:sp>
        <p:nvSpPr>
          <p:cNvPr id="10" name="brain_lab9"/>
          <p:cNvSpPr/>
          <p:nvPr/>
        </p:nvSpPr>
        <p:spPr>
          <a:xfrm>
            <a:off x="4370831" y="1965960"/>
            <a:ext cx="1508760" cy="1143000"/>
          </a:xfrm>
          <a:prstGeom prst="roundRect">
            <a:avLst>
              <a:gd name="adj" fmla="val 8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FFFFFF"/>
                </a:solidFill>
                <a:latin typeface="Calibri"/>
              </a:rPr>
              <a:t>brain_lab9</a:t>
            </a:r>
          </a:p>
          <a:p>
            <a:pPr algn="ctr"/>
            <a:r>
              <a:rPr sz="1100">
                <a:solidFill>
                  <a:srgbClr val="EEF1F4"/>
                </a:solidFill>
                <a:latin typeface="Calibri"/>
              </a:rPr>
              <a:t>menu, scene,
pick / drop</a:t>
            </a:r>
          </a:p>
        </p:txBody>
      </p:sp>
      <p:sp>
        <p:nvSpPr>
          <p:cNvPr id="11" name="Right Arrow 10"/>
          <p:cNvSpPr/>
          <p:nvPr/>
        </p:nvSpPr>
        <p:spPr>
          <a:xfrm>
            <a:off x="5943600" y="2423160"/>
            <a:ext cx="274320" cy="228600"/>
          </a:xfrm>
          <a:prstGeom prst="rightArrow">
            <a:avLst/>
          </a:prstGeom>
          <a:solidFill>
            <a:srgbClr val="9AA5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68112" y="3200400"/>
            <a:ext cx="1225296" cy="548640"/>
          </a:xfrm>
          <a:prstGeom prst="rect">
            <a:avLst/>
          </a:prstGeom>
          <a:noFill/>
        </p:spPr>
        <p:txBody>
          <a:bodyPr wrap="square" anchor="t" lIns="45720" rIns="45720">
            <a:spAutoFit/>
          </a:bodyPr>
          <a:lstStyle/>
          <a:p>
            <a:pPr algn="ctr">
              <a:spcAft>
                <a:spcPts val="0"/>
              </a:spcAft>
            </a:pPr>
            <a:r>
              <a:rPr sz="1000" b="0">
                <a:solidFill>
                  <a:srgbClr val="5B6770"/>
                </a:solidFill>
                <a:latin typeface="Calibri"/>
              </a:rPr>
              <a:t>move_action</a:t>
            </a:r>
          </a:p>
        </p:txBody>
      </p:sp>
      <p:sp>
        <p:nvSpPr>
          <p:cNvPr id="13" name="MoveIt"/>
          <p:cNvSpPr/>
          <p:nvPr/>
        </p:nvSpPr>
        <p:spPr>
          <a:xfrm>
            <a:off x="6281927" y="1965960"/>
            <a:ext cx="1508760" cy="1143000"/>
          </a:xfrm>
          <a:prstGeom prst="roundRect">
            <a:avLst>
              <a:gd name="adj" fmla="val 8000"/>
            </a:avLst>
          </a:prstGeom>
          <a:solidFill>
            <a:srgbClr val="5B67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FFFFFF"/>
                </a:solidFill>
                <a:latin typeface="Calibri"/>
              </a:rPr>
              <a:t>MoveIt</a:t>
            </a:r>
          </a:p>
          <a:p>
            <a:pPr algn="ctr"/>
            <a:r>
              <a:rPr sz="1100">
                <a:solidFill>
                  <a:srgbClr val="EEF1F4"/>
                </a:solidFill>
                <a:latin typeface="Calibri"/>
              </a:rPr>
              <a:t>move_group
(plans paths)</a:t>
            </a:r>
          </a:p>
        </p:txBody>
      </p:sp>
      <p:sp>
        <p:nvSpPr>
          <p:cNvPr id="14" name="Right Arrow 13"/>
          <p:cNvSpPr/>
          <p:nvPr/>
        </p:nvSpPr>
        <p:spPr>
          <a:xfrm>
            <a:off x="7854696" y="2423160"/>
            <a:ext cx="274320" cy="228600"/>
          </a:xfrm>
          <a:prstGeom prst="rightArrow">
            <a:avLst/>
          </a:prstGeom>
          <a:solidFill>
            <a:srgbClr val="9AA5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79208" y="3200400"/>
            <a:ext cx="1225296" cy="548640"/>
          </a:xfrm>
          <a:prstGeom prst="rect">
            <a:avLst/>
          </a:prstGeom>
          <a:noFill/>
        </p:spPr>
        <p:txBody>
          <a:bodyPr wrap="square" anchor="t" lIns="45720" rIns="45720">
            <a:spAutoFit/>
          </a:bodyPr>
          <a:lstStyle/>
          <a:p>
            <a:pPr algn="ctr">
              <a:spcAft>
                <a:spcPts val="0"/>
              </a:spcAft>
            </a:pPr>
            <a:r>
              <a:rPr sz="1000" b="0">
                <a:solidFill>
                  <a:srgbClr val="5B6770"/>
                </a:solidFill>
                <a:latin typeface="Calibri"/>
              </a:rPr>
              <a:t>follow_joint_
trajectory</a:t>
            </a:r>
          </a:p>
        </p:txBody>
      </p:sp>
      <p:sp>
        <p:nvSpPr>
          <p:cNvPr id="16" name="controller_lab9"/>
          <p:cNvSpPr/>
          <p:nvPr/>
        </p:nvSpPr>
        <p:spPr>
          <a:xfrm>
            <a:off x="8193023" y="1965960"/>
            <a:ext cx="1508760" cy="1143000"/>
          </a:xfrm>
          <a:prstGeom prst="roundRect">
            <a:avLst>
              <a:gd name="adj" fmla="val 8000"/>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FFFFFF"/>
                </a:solidFill>
                <a:latin typeface="Calibri"/>
              </a:rPr>
              <a:t>controller_lab9</a:t>
            </a:r>
          </a:p>
          <a:p>
            <a:pPr algn="ctr"/>
            <a:r>
              <a:rPr sz="1100">
                <a:solidFill>
                  <a:srgbClr val="EEF1F4"/>
                </a:solidFill>
                <a:latin typeface="Calibri"/>
              </a:rPr>
              <a:t>Pi: serial,
pump + valve</a:t>
            </a:r>
          </a:p>
        </p:txBody>
      </p:sp>
      <p:sp>
        <p:nvSpPr>
          <p:cNvPr id="17" name="Right Arrow 16"/>
          <p:cNvSpPr/>
          <p:nvPr/>
        </p:nvSpPr>
        <p:spPr>
          <a:xfrm>
            <a:off x="9765792" y="2423160"/>
            <a:ext cx="274320" cy="228600"/>
          </a:xfrm>
          <a:prstGeom prst="rightArrow">
            <a:avLst/>
          </a:prstGeom>
          <a:solidFill>
            <a:srgbClr val="9AA5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0304" y="3200400"/>
            <a:ext cx="1225296" cy="548640"/>
          </a:xfrm>
          <a:prstGeom prst="rect">
            <a:avLst/>
          </a:prstGeom>
          <a:noFill/>
        </p:spPr>
        <p:txBody>
          <a:bodyPr wrap="square" anchor="t" lIns="45720" rIns="45720">
            <a:spAutoFit/>
          </a:bodyPr>
          <a:lstStyle/>
          <a:p>
            <a:pPr algn="ctr">
              <a:spcAft>
                <a:spcPts val="0"/>
              </a:spcAft>
            </a:pPr>
            <a:r>
              <a:rPr sz="1000" b="0">
                <a:solidFill>
                  <a:srgbClr val="5B6770"/>
                </a:solidFill>
                <a:latin typeface="Calibri"/>
              </a:rPr>
              <a:t>serial, GPIO</a:t>
            </a:r>
          </a:p>
        </p:txBody>
      </p:sp>
      <p:sp>
        <p:nvSpPr>
          <p:cNvPr id="19" name="Arm + pump"/>
          <p:cNvSpPr/>
          <p:nvPr/>
        </p:nvSpPr>
        <p:spPr>
          <a:xfrm>
            <a:off x="10104119" y="1965960"/>
            <a:ext cx="1508760" cy="1143000"/>
          </a:xfrm>
          <a:prstGeom prst="roundRect">
            <a:avLst>
              <a:gd name="adj" fmla="val 8000"/>
            </a:avLst>
          </a:prstGeom>
          <a:solidFill>
            <a:srgbClr val="5B677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FFFFFF"/>
                </a:solidFill>
                <a:latin typeface="Calibri"/>
              </a:rPr>
              <a:t>Arm + pump</a:t>
            </a:r>
          </a:p>
          <a:p>
            <a:pPr algn="ctr"/>
            <a:r>
              <a:rPr sz="1100">
                <a:solidFill>
                  <a:srgbClr val="EEF1F4"/>
                </a:solidFill>
                <a:latin typeface="Calibri"/>
              </a:rPr>
              <a:t>myCobot 280 Pi</a:t>
            </a:r>
          </a:p>
        </p:txBody>
      </p:sp>
      <p:sp>
        <p:nvSpPr>
          <p:cNvPr id="20" name="Rounded Rectangle 19"/>
          <p:cNvSpPr/>
          <p:nvPr/>
        </p:nvSpPr>
        <p:spPr>
          <a:xfrm>
            <a:off x="548640" y="4069080"/>
            <a:ext cx="3474720" cy="205740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206240"/>
            <a:ext cx="3017520" cy="411480"/>
          </a:xfrm>
          <a:prstGeom prst="rect">
            <a:avLst/>
          </a:prstGeom>
          <a:noFill/>
        </p:spPr>
        <p:txBody>
          <a:bodyPr wrap="square" anchor="t" lIns="45720" rIns="45720">
            <a:spAutoFit/>
          </a:bodyPr>
          <a:lstStyle/>
          <a:p>
            <a:pPr algn="l">
              <a:spcAft>
                <a:spcPts val="600"/>
              </a:spcAft>
            </a:pPr>
            <a:r>
              <a:rPr sz="1700" b="1">
                <a:solidFill>
                  <a:srgbClr val="1F2933"/>
                </a:solidFill>
                <a:latin typeface="Calibri"/>
              </a:rPr>
              <a:t>Course code unchanged</a:t>
            </a:r>
          </a:p>
        </p:txBody>
      </p:sp>
      <p:sp>
        <p:nvSpPr>
          <p:cNvPr id="22" name="TextBox 21"/>
          <p:cNvSpPr txBox="1"/>
          <p:nvPr/>
        </p:nvSpPr>
        <p:spPr>
          <a:xfrm>
            <a:off x="777240" y="4663440"/>
            <a:ext cx="3017520" cy="1417320"/>
          </a:xfrm>
          <a:prstGeom prst="rect">
            <a:avLst/>
          </a:prstGeom>
          <a:noFill/>
        </p:spPr>
        <p:txBody>
          <a:bodyPr wrap="square" anchor="t" lIns="45720" rIns="45720">
            <a:spAutoFit/>
          </a:bodyPr>
          <a:lstStyle/>
          <a:p>
            <a:pPr algn="l">
              <a:spcAft>
                <a:spcPts val="600"/>
              </a:spcAft>
            </a:pPr>
            <a:r>
              <a:rPr sz="1400" b="0">
                <a:solidFill>
                  <a:srgbClr val="1F2933"/>
                </a:solidFill>
                <a:latin typeface="Calibri"/>
              </a:rPr>
              <a:t>All our code is in two new packages. The original vision, brain and controller stay runnable for Part 0.</a:t>
            </a:r>
          </a:p>
        </p:txBody>
      </p:sp>
      <p:sp>
        <p:nvSpPr>
          <p:cNvPr id="23" name="Rounded Rectangle 22"/>
          <p:cNvSpPr/>
          <p:nvPr/>
        </p:nvSpPr>
        <p:spPr>
          <a:xfrm>
            <a:off x="4297679" y="4069080"/>
            <a:ext cx="3474720" cy="205740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26279" y="4206240"/>
            <a:ext cx="3017520" cy="411480"/>
          </a:xfrm>
          <a:prstGeom prst="rect">
            <a:avLst/>
          </a:prstGeom>
          <a:noFill/>
        </p:spPr>
        <p:txBody>
          <a:bodyPr wrap="square" anchor="t" lIns="45720" rIns="45720">
            <a:spAutoFit/>
          </a:bodyPr>
          <a:lstStyle/>
          <a:p>
            <a:pPr algn="l">
              <a:spcAft>
                <a:spcPts val="600"/>
              </a:spcAft>
            </a:pPr>
            <a:r>
              <a:rPr sz="1700" b="1">
                <a:solidFill>
                  <a:srgbClr val="1F2933"/>
                </a:solidFill>
                <a:latin typeface="Calibri"/>
              </a:rPr>
              <a:t>Calibration from 2 markers</a:t>
            </a:r>
          </a:p>
        </p:txBody>
      </p:sp>
      <p:sp>
        <p:nvSpPr>
          <p:cNvPr id="25" name="TextBox 24"/>
          <p:cNvSpPr txBox="1"/>
          <p:nvPr/>
        </p:nvSpPr>
        <p:spPr>
          <a:xfrm>
            <a:off x="4526279" y="4663440"/>
            <a:ext cx="3017520" cy="1417320"/>
          </a:xfrm>
          <a:prstGeom prst="rect">
            <a:avLst/>
          </a:prstGeom>
          <a:noFill/>
        </p:spPr>
        <p:txBody>
          <a:bodyPr wrap="square" anchor="t" lIns="45720" rIns="45720">
            <a:spAutoFit/>
          </a:bodyPr>
          <a:lstStyle/>
          <a:p>
            <a:pPr algn="l">
              <a:spcAft>
                <a:spcPts val="600"/>
              </a:spcAft>
            </a:pPr>
            <a:r>
              <a:rPr sz="1400" b="0">
                <a:solidFill>
                  <a:srgbClr val="1F2933"/>
                </a:solidFill>
                <a:latin typeface="Calibri"/>
              </a:rPr>
              <a:t>Two ArUco markers at ruler-measured positions give scale, rotation and shift (≈ 0.99 mm/px), plus a correction for the object height.</a:t>
            </a:r>
          </a:p>
        </p:txBody>
      </p:sp>
      <p:sp>
        <p:nvSpPr>
          <p:cNvPr id="26" name="Rounded Rectangle 25"/>
          <p:cNvSpPr/>
          <p:nvPr/>
        </p:nvSpPr>
        <p:spPr>
          <a:xfrm>
            <a:off x="8046719" y="4069080"/>
            <a:ext cx="3474720" cy="205740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319" y="4206240"/>
            <a:ext cx="3017520" cy="411480"/>
          </a:xfrm>
          <a:prstGeom prst="rect">
            <a:avLst/>
          </a:prstGeom>
          <a:noFill/>
        </p:spPr>
        <p:txBody>
          <a:bodyPr wrap="square" anchor="t" lIns="45720" rIns="45720">
            <a:spAutoFit/>
          </a:bodyPr>
          <a:lstStyle/>
          <a:p>
            <a:pPr algn="l">
              <a:spcAft>
                <a:spcPts val="600"/>
              </a:spcAft>
            </a:pPr>
            <a:r>
              <a:rPr sz="1700" b="1">
                <a:solidFill>
                  <a:srgbClr val="1F2933"/>
                </a:solidFill>
                <a:latin typeface="Calibri"/>
              </a:rPr>
              <a:t>Real-robot fixes</a:t>
            </a:r>
          </a:p>
        </p:txBody>
      </p:sp>
      <p:sp>
        <p:nvSpPr>
          <p:cNvPr id="28" name="TextBox 27"/>
          <p:cNvSpPr txBox="1"/>
          <p:nvPr/>
        </p:nvSpPr>
        <p:spPr>
          <a:xfrm>
            <a:off x="8275319" y="4663440"/>
            <a:ext cx="3017520" cy="1417320"/>
          </a:xfrm>
          <a:prstGeom prst="rect">
            <a:avLst/>
          </a:prstGeom>
          <a:noFill/>
        </p:spPr>
        <p:txBody>
          <a:bodyPr wrap="square" anchor="t" lIns="45720" rIns="45720">
            <a:spAutoFit/>
          </a:bodyPr>
          <a:lstStyle/>
          <a:p>
            <a:pPr algn="l">
              <a:spcAft>
                <a:spcPts val="600"/>
              </a:spcAft>
            </a:pPr>
            <a:r>
              <a:rPr sz="1400" b="0">
                <a:solidFill>
                  <a:srgbClr val="1F2933"/>
                </a:solidFill>
                <a:latin typeface="Calibri"/>
              </a:rPr>
              <a:t>Controller copy: release valve, smooth execution, arrival wait. MoveIt time limits ×4 + 5 s. All measured values in lab9.yaml.</a:t>
            </a:r>
          </a:p>
        </p:txBody>
      </p:sp>
      <p:sp>
        <p:nvSpPr>
          <p:cNvPr id="29" name="TextBox 28"/>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a:solidFill>
                  <a:srgbClr val="5B6770"/>
                </a:solidFill>
                <a:latin typeface="Calibri"/>
              </a:rPr>
              <a:t>Lab 9 – Pick and Place with MoveIt · status 2026-10-11</a:t>
            </a:r>
          </a:p>
        </p:txBody>
      </p:sp>
      <p:sp>
        <p:nvSpPr>
          <p:cNvPr id="30" name="TextBox 29"/>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a:solidFill>
                  <a:srgbClr val="5B6770"/>
                </a:solidFill>
                <a:latin typeface="Calibri"/>
              </a:rPr>
              <a:t>3 /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731520"/>
          </a:xfrm>
          <a:prstGeom prst="rect">
            <a:avLst/>
          </a:prstGeom>
          <a:noFill/>
        </p:spPr>
        <p:txBody>
          <a:bodyPr wrap="square" anchor="t" lIns="45720" rIns="45720">
            <a:spAutoFit/>
          </a:bodyPr>
          <a:lstStyle/>
          <a:p>
            <a:pPr algn="l">
              <a:spcAft>
                <a:spcPts val="600"/>
              </a:spcAft>
            </a:pPr>
            <a:r>
              <a:rPr sz="3400" b="1">
                <a:solidFill>
                  <a:srgbClr val="1F2933"/>
                </a:solidFill>
                <a:latin typeface="Calibri"/>
              </a:rPr>
              <a:t>Method: colour and shape from one top view</a:t>
            </a:r>
          </a:p>
        </p:txBody>
      </p:sp>
      <p:sp>
        <p:nvSpPr>
          <p:cNvPr id="3" name="Subtitle"/>
          <p:cNvSpPr txBox="1"/>
          <p:nvPr/>
        </p:nvSpPr>
        <p:spPr>
          <a:xfrm>
            <a:off x="548640" y="1024128"/>
            <a:ext cx="11064240" cy="411480"/>
          </a:xfrm>
          <a:prstGeom prst="rect">
            <a:avLst/>
          </a:prstGeom>
          <a:noFill/>
        </p:spPr>
        <p:txBody>
          <a:bodyPr wrap="square" anchor="t" lIns="45720" rIns="45720">
            <a:spAutoFit/>
          </a:bodyPr>
          <a:lstStyle/>
          <a:p>
            <a:pPr algn="l">
              <a:spcAft>
                <a:spcPts val="600"/>
              </a:spcAft>
            </a:pPr>
            <a:r>
              <a:rPr sz="1600" b="0">
                <a:solidFill>
                  <a:srgbClr val="5B6770"/>
                </a:solidFill>
                <a:latin typeface="Calibri"/>
              </a:rPr>
              <a:t>vision_lab9 builds a new object list every frame; nothing older than 1 s is returned</a:t>
            </a:r>
          </a:p>
        </p:txBody>
      </p:sp>
      <p:pic>
        <p:nvPicPr>
          <p:cNvPr id="4" name="Picture 3" descr="shapes_1444.png"/>
          <p:cNvPicPr>
            <a:picLocks noChangeAspect="1"/>
          </p:cNvPicPr>
          <p:nvPr/>
        </p:nvPicPr>
        <p:blipFill>
          <a:blip r:embed="rId2"/>
          <a:stretch>
            <a:fillRect/>
          </a:stretch>
        </p:blipFill>
        <p:spPr>
          <a:xfrm>
            <a:off x="548640" y="1737360"/>
            <a:ext cx="5120640" cy="3840480"/>
          </a:xfrm>
          <a:prstGeom prst="rect">
            <a:avLst/>
          </a:prstGeom>
        </p:spPr>
      </p:pic>
      <p:sp>
        <p:nvSpPr>
          <p:cNvPr id="5" name="TextBox 4"/>
          <p:cNvSpPr txBox="1"/>
          <p:nvPr/>
        </p:nvSpPr>
        <p:spPr>
          <a:xfrm>
            <a:off x="548640" y="5623560"/>
            <a:ext cx="5120640" cy="548640"/>
          </a:xfrm>
          <a:prstGeom prst="rect">
            <a:avLst/>
          </a:prstGeom>
          <a:noFill/>
        </p:spPr>
        <p:txBody>
          <a:bodyPr wrap="square" anchor="t" lIns="45720" rIns="45720">
            <a:spAutoFit/>
          </a:bodyPr>
          <a:lstStyle/>
          <a:p>
            <a:pPr algn="l">
              <a:spcAft>
                <a:spcPts val="600"/>
              </a:spcAft>
            </a:pPr>
            <a:r>
              <a:rPr sz="1100" b="0">
                <a:solidFill>
                  <a:srgbClr val="5B6770"/>
                </a:solidFill>
                <a:latin typeface="Calibri"/>
              </a:rPr>
              <a:t>10-05 14:44: red and blue cube + cylinder, yellow cube – all labelled correctly</a:t>
            </a:r>
          </a:p>
        </p:txBody>
      </p:sp>
      <p:sp>
        <p:nvSpPr>
          <p:cNvPr id="6" name="Oval 5"/>
          <p:cNvSpPr/>
          <p:nvPr/>
        </p:nvSpPr>
        <p:spPr>
          <a:xfrm>
            <a:off x="6080760" y="1783080"/>
            <a:ext cx="457200" cy="457200"/>
          </a:xfrm>
          <a:prstGeom prst="ellipse">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6720840" y="1737360"/>
            <a:ext cx="4937760" cy="365760"/>
          </a:xfrm>
          <a:prstGeom prst="rect">
            <a:avLst/>
          </a:prstGeom>
          <a:noFill/>
        </p:spPr>
        <p:txBody>
          <a:bodyPr wrap="square" anchor="t" lIns="45720" rIns="45720">
            <a:spAutoFit/>
          </a:bodyPr>
          <a:lstStyle/>
          <a:p>
            <a:pPr algn="l">
              <a:spcAft>
                <a:spcPts val="0"/>
              </a:spcAft>
            </a:pPr>
            <a:r>
              <a:rPr sz="1600" b="1">
                <a:solidFill>
                  <a:srgbClr val="1F2933"/>
                </a:solidFill>
                <a:latin typeface="Calibri"/>
              </a:rPr>
              <a:t>Colour mask</a:t>
            </a:r>
          </a:p>
        </p:txBody>
      </p:sp>
      <p:sp>
        <p:nvSpPr>
          <p:cNvPr id="8" name="TextBox 7"/>
          <p:cNvSpPr txBox="1"/>
          <p:nvPr/>
        </p:nvSpPr>
        <p:spPr>
          <a:xfrm>
            <a:off x="6720840" y="2075688"/>
            <a:ext cx="4937760" cy="502920"/>
          </a:xfrm>
          <a:prstGeom prst="rect">
            <a:avLst/>
          </a:prstGeom>
          <a:noFill/>
        </p:spPr>
        <p:txBody>
          <a:bodyPr wrap="square" anchor="t" lIns="45720" rIns="45720">
            <a:spAutoFit/>
          </a:bodyPr>
          <a:lstStyle/>
          <a:p>
            <a:pPr algn="l">
              <a:spcAft>
                <a:spcPts val="0"/>
              </a:spcAft>
            </a:pPr>
            <a:r>
              <a:rPr sz="1400" b="0">
                <a:solidFill>
                  <a:srgbClr val="5B6770"/>
                </a:solidFill>
                <a:latin typeface="Calibri"/>
              </a:rPr>
              <a:t>HSV range per colour, only inside the plate area</a:t>
            </a:r>
          </a:p>
        </p:txBody>
      </p:sp>
      <p:sp>
        <p:nvSpPr>
          <p:cNvPr id="9" name="Oval 8"/>
          <p:cNvSpPr/>
          <p:nvPr/>
        </p:nvSpPr>
        <p:spPr>
          <a:xfrm>
            <a:off x="6080760" y="2624327"/>
            <a:ext cx="457200" cy="457200"/>
          </a:xfrm>
          <a:prstGeom prst="ellipse">
            <a:avLst/>
          </a:prstGeom>
          <a:solidFill>
            <a:srgbClr val="E8A8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0" name="TextBox 9"/>
          <p:cNvSpPr txBox="1"/>
          <p:nvPr/>
        </p:nvSpPr>
        <p:spPr>
          <a:xfrm>
            <a:off x="6720840" y="2578608"/>
            <a:ext cx="4937760" cy="365760"/>
          </a:xfrm>
          <a:prstGeom prst="rect">
            <a:avLst/>
          </a:prstGeom>
          <a:noFill/>
        </p:spPr>
        <p:txBody>
          <a:bodyPr wrap="square" anchor="t" lIns="45720" rIns="45720">
            <a:spAutoFit/>
          </a:bodyPr>
          <a:lstStyle/>
          <a:p>
            <a:pPr algn="l">
              <a:spcAft>
                <a:spcPts val="0"/>
              </a:spcAft>
            </a:pPr>
            <a:r>
              <a:rPr sz="1600" b="1">
                <a:solidFill>
                  <a:srgbClr val="1F2933"/>
                </a:solidFill>
                <a:latin typeface="Calibri"/>
              </a:rPr>
              <a:t>Clean-up</a:t>
            </a:r>
          </a:p>
        </p:txBody>
      </p:sp>
      <p:sp>
        <p:nvSpPr>
          <p:cNvPr id="11" name="TextBox 10"/>
          <p:cNvSpPr txBox="1"/>
          <p:nvPr/>
        </p:nvSpPr>
        <p:spPr>
          <a:xfrm>
            <a:off x="6720840" y="2916936"/>
            <a:ext cx="4937760" cy="502920"/>
          </a:xfrm>
          <a:prstGeom prst="rect">
            <a:avLst/>
          </a:prstGeom>
          <a:noFill/>
        </p:spPr>
        <p:txBody>
          <a:bodyPr wrap="square" anchor="t" lIns="45720" rIns="45720">
            <a:spAutoFit/>
          </a:bodyPr>
          <a:lstStyle/>
          <a:p>
            <a:pPr algn="l">
              <a:spcAft>
                <a:spcPts val="0"/>
              </a:spcAft>
            </a:pPr>
            <a:r>
              <a:rPr sz="1400" b="0">
                <a:solidFill>
                  <a:srgbClr val="5B6770"/>
                </a:solidFill>
                <a:latin typeface="Calibri"/>
              </a:rPr>
              <a:t>opening + closing; keep 30–75 mm objects</a:t>
            </a:r>
          </a:p>
        </p:txBody>
      </p:sp>
      <p:sp>
        <p:nvSpPr>
          <p:cNvPr id="12" name="Oval 11"/>
          <p:cNvSpPr/>
          <p:nvPr/>
        </p:nvSpPr>
        <p:spPr>
          <a:xfrm>
            <a:off x="6080760" y="3465576"/>
            <a:ext cx="457200" cy="457200"/>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3" name="TextBox 12"/>
          <p:cNvSpPr txBox="1"/>
          <p:nvPr/>
        </p:nvSpPr>
        <p:spPr>
          <a:xfrm>
            <a:off x="6720840" y="3419856"/>
            <a:ext cx="4937760" cy="365760"/>
          </a:xfrm>
          <a:prstGeom prst="rect">
            <a:avLst/>
          </a:prstGeom>
          <a:noFill/>
        </p:spPr>
        <p:txBody>
          <a:bodyPr wrap="square" anchor="t" lIns="45720" rIns="45720">
            <a:spAutoFit/>
          </a:bodyPr>
          <a:lstStyle/>
          <a:p>
            <a:pPr algn="l">
              <a:spcAft>
                <a:spcPts val="0"/>
              </a:spcAft>
            </a:pPr>
            <a:r>
              <a:rPr sz="1600" b="1">
                <a:solidFill>
                  <a:srgbClr val="1F2933"/>
                </a:solidFill>
                <a:latin typeface="Calibri"/>
              </a:rPr>
              <a:t>Shape features</a:t>
            </a:r>
          </a:p>
        </p:txBody>
      </p:sp>
      <p:sp>
        <p:nvSpPr>
          <p:cNvPr id="14" name="TextBox 13"/>
          <p:cNvSpPr txBox="1"/>
          <p:nvPr/>
        </p:nvSpPr>
        <p:spPr>
          <a:xfrm>
            <a:off x="6720840" y="3758184"/>
            <a:ext cx="4937760" cy="502920"/>
          </a:xfrm>
          <a:prstGeom prst="rect">
            <a:avLst/>
          </a:prstGeom>
          <a:noFill/>
        </p:spPr>
        <p:txBody>
          <a:bodyPr wrap="square" anchor="t" lIns="45720" rIns="45720">
            <a:spAutoFit/>
          </a:bodyPr>
          <a:lstStyle/>
          <a:p>
            <a:pPr algn="l">
              <a:spcAft>
                <a:spcPts val="0"/>
              </a:spcAft>
            </a:pPr>
            <a:r>
              <a:rPr sz="1400" b="0">
                <a:solidFill>
                  <a:srgbClr val="5B6770"/>
                </a:solidFill>
                <a:latin typeface="Calibri"/>
              </a:rPr>
              <a:t>circularity C = 4πA/P², fill = area / enclosing circle, corners</a:t>
            </a:r>
          </a:p>
        </p:txBody>
      </p:sp>
      <p:sp>
        <p:nvSpPr>
          <p:cNvPr id="15" name="Oval 14"/>
          <p:cNvSpPr/>
          <p:nvPr/>
        </p:nvSpPr>
        <p:spPr>
          <a:xfrm>
            <a:off x="6080760" y="4306824"/>
            <a:ext cx="457200" cy="457200"/>
          </a:xfrm>
          <a:prstGeom prst="ellipse">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6" name="TextBox 15"/>
          <p:cNvSpPr txBox="1"/>
          <p:nvPr/>
        </p:nvSpPr>
        <p:spPr>
          <a:xfrm>
            <a:off x="6720840" y="4261104"/>
            <a:ext cx="4937760" cy="365760"/>
          </a:xfrm>
          <a:prstGeom prst="rect">
            <a:avLst/>
          </a:prstGeom>
          <a:noFill/>
        </p:spPr>
        <p:txBody>
          <a:bodyPr wrap="square" anchor="t" lIns="45720" rIns="45720">
            <a:spAutoFit/>
          </a:bodyPr>
          <a:lstStyle/>
          <a:p>
            <a:pPr algn="l">
              <a:spcAft>
                <a:spcPts val="0"/>
              </a:spcAft>
            </a:pPr>
            <a:r>
              <a:rPr sz="1600" b="1">
                <a:solidFill>
                  <a:srgbClr val="1F2933"/>
                </a:solidFill>
                <a:latin typeface="Calibri"/>
              </a:rPr>
              <a:t>Decision</a:t>
            </a:r>
          </a:p>
        </p:txBody>
      </p:sp>
      <p:sp>
        <p:nvSpPr>
          <p:cNvPr id="17" name="TextBox 16"/>
          <p:cNvSpPr txBox="1"/>
          <p:nvPr/>
        </p:nvSpPr>
        <p:spPr>
          <a:xfrm>
            <a:off x="6720840" y="4599432"/>
            <a:ext cx="4937760" cy="502920"/>
          </a:xfrm>
          <a:prstGeom prst="rect">
            <a:avLst/>
          </a:prstGeom>
          <a:noFill/>
        </p:spPr>
        <p:txBody>
          <a:bodyPr wrap="square" anchor="t" lIns="45720" rIns="45720">
            <a:spAutoFit/>
          </a:bodyPr>
          <a:lstStyle/>
          <a:p>
            <a:pPr algn="l">
              <a:spcAft>
                <a:spcPts val="0"/>
              </a:spcAft>
            </a:pPr>
            <a:r>
              <a:rPr sz="1400" b="0">
                <a:solidFill>
                  <a:srgbClr val="5B6770"/>
                </a:solidFill>
                <a:latin typeface="Calibri"/>
              </a:rPr>
              <a:t>cylinder if fill and C ≥ 0.75; cube if fill ≤ 0.72 and 4–6 corners; else unknown</a:t>
            </a:r>
          </a:p>
        </p:txBody>
      </p:sp>
      <p:sp>
        <p:nvSpPr>
          <p:cNvPr id="18" name="Rounded Rectangle 17"/>
          <p:cNvSpPr/>
          <p:nvPr/>
        </p:nvSpPr>
        <p:spPr>
          <a:xfrm>
            <a:off x="6080760" y="5303520"/>
            <a:ext cx="5577840" cy="86868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5376672"/>
            <a:ext cx="5303520" cy="731520"/>
          </a:xfrm>
          <a:prstGeom prst="rect">
            <a:avLst/>
          </a:prstGeom>
          <a:noFill/>
        </p:spPr>
        <p:txBody>
          <a:bodyPr wrap="square" anchor="t" lIns="45720" rIns="45720">
            <a:spAutoFit/>
          </a:bodyPr>
          <a:lstStyle/>
          <a:p>
            <a:pPr algn="l">
              <a:spcAft>
                <a:spcPts val="200"/>
              </a:spcAft>
            </a:pPr>
            <a:r>
              <a:rPr sz="1400" b="1">
                <a:solidFill>
                  <a:srgbClr val="1F2933"/>
                </a:solidFill>
                <a:latin typeface="Calibri"/>
              </a:rPr>
              <a:t>Fill is the key feature</a:t>
            </a:r>
          </a:p>
          <a:p>
            <a:pPr algn="l">
              <a:spcAft>
                <a:spcPts val="200"/>
              </a:spcAft>
            </a:pPr>
            <a:r>
              <a:rPr sz="1400" b="0">
                <a:solidFill>
                  <a:srgbClr val="1F2933"/>
                </a:solidFill>
                <a:latin typeface="Calibri"/>
              </a:rPr>
              <a:t>square 0.64 · circle 1.0 in theory; measured: cubes 0.66–0.72, cylinders ≈ 0.88</a:t>
            </a:r>
          </a:p>
        </p:txBody>
      </p:sp>
      <p:sp>
        <p:nvSpPr>
          <p:cNvPr id="20" name="TextBox 19"/>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a:solidFill>
                  <a:srgbClr val="5B6770"/>
                </a:solidFill>
                <a:latin typeface="Calibri"/>
              </a:rPr>
              <a:t>Lab 9 – Pick and Place with MoveIt · status 2026-10-11</a:t>
            </a:r>
          </a:p>
        </p:txBody>
      </p:sp>
      <p:sp>
        <p:nvSpPr>
          <p:cNvPr id="21" name="TextBox 20"/>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a:solidFill>
                  <a:srgbClr val="5B6770"/>
                </a:solidFill>
                <a:latin typeface="Calibri"/>
              </a:rPr>
              <a:t>4 /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731520"/>
          </a:xfrm>
          <a:prstGeom prst="rect">
            <a:avLst/>
          </a:prstGeom>
          <a:noFill/>
        </p:spPr>
        <p:txBody>
          <a:bodyPr wrap="square" anchor="t" lIns="45720" rIns="45720">
            <a:spAutoFit/>
          </a:bodyPr>
          <a:lstStyle/>
          <a:p>
            <a:pPr algn="l">
              <a:spcAft>
                <a:spcPts val="600"/>
              </a:spcAft>
            </a:pPr>
            <a:r>
              <a:rPr sz="3400" b="1">
                <a:solidFill>
                  <a:srgbClr val="1F2933"/>
                </a:solidFill>
                <a:latin typeface="Calibri"/>
              </a:rPr>
              <a:t>Method: object interface on the real robot</a:t>
            </a:r>
          </a:p>
        </p:txBody>
      </p:sp>
      <p:sp>
        <p:nvSpPr>
          <p:cNvPr id="3" name="Subtitle"/>
          <p:cNvSpPr txBox="1"/>
          <p:nvPr/>
        </p:nvSpPr>
        <p:spPr>
          <a:xfrm>
            <a:off x="548640" y="1024128"/>
            <a:ext cx="11064240" cy="411480"/>
          </a:xfrm>
          <a:prstGeom prst="rect">
            <a:avLst/>
          </a:prstGeom>
          <a:noFill/>
        </p:spPr>
        <p:txBody>
          <a:bodyPr wrap="square" anchor="t" lIns="45720" rIns="45720">
            <a:spAutoFit/>
          </a:bodyPr>
          <a:lstStyle/>
          <a:p>
            <a:pPr algn="l">
              <a:spcAft>
                <a:spcPts val="600"/>
              </a:spcAft>
            </a:pPr>
            <a:r>
              <a:rPr sz="1600" b="0">
                <a:solidFill>
                  <a:srgbClr val="5B6770"/>
                </a:solidFill>
                <a:latin typeface="Calibri"/>
              </a:rPr>
              <a:t>GetObject service + brain_lab9; the course planning methods are kept</a:t>
            </a:r>
          </a:p>
        </p:txBody>
      </p:sp>
      <p:sp>
        <p:nvSpPr>
          <p:cNvPr id="4" name="TextBox 3"/>
          <p:cNvSpPr txBox="1"/>
          <p:nvPr/>
        </p:nvSpPr>
        <p:spPr>
          <a:xfrm>
            <a:off x="548640" y="1737360"/>
            <a:ext cx="4846320" cy="2194560"/>
          </a:xfrm>
          <a:prstGeom prst="rect">
            <a:avLst/>
          </a:prstGeom>
          <a:noFill/>
        </p:spPr>
        <p:txBody>
          <a:bodyPr wrap="square" anchor="t" lIns="45720" rIns="45720">
            <a:spAutoFit/>
          </a:bodyPr>
          <a:lstStyle/>
          <a:p>
            <a:pPr algn="l">
              <a:spcAft>
                <a:spcPts val="800"/>
              </a:spcAft>
            </a:pPr>
            <a:r>
              <a:rPr sz="1400" b="0">
                <a:solidFill>
                  <a:srgbClr val="1F2933"/>
                </a:solidFill>
                <a:latin typeface="Calibri"/>
              </a:rPr>
              <a:t>•  The id (e.g. red_cube_1) adds, attaches, detaches and removes the MoveIt object</a:t>
            </a:r>
          </a:p>
          <a:p>
            <a:pPr algn="l">
              <a:spcAft>
                <a:spcPts val="800"/>
              </a:spcAft>
            </a:pPr>
            <a:r>
              <a:rPr sz="1400" b="0">
                <a:solidFill>
                  <a:srgbClr val="1F2933"/>
                </a:solidFill>
                <a:latin typeface="Calibri"/>
              </a:rPr>
              <a:t>•  BOX 35 mm or CYLINDER [height, radius] in the planning scene</a:t>
            </a:r>
          </a:p>
          <a:p>
            <a:pPr algn="l">
              <a:spcAft>
                <a:spcPts val="800"/>
              </a:spcAft>
            </a:pPr>
            <a:r>
              <a:rPr sz="1400" b="0">
                <a:solidFill>
                  <a:srgbClr val="1F2933"/>
                </a:solidFill>
                <a:latin typeface="Calibri"/>
              </a:rPr>
              <a:t>•  Menu as a loop: colour → shape → choose a match → bin; plus auto sort</a:t>
            </a:r>
          </a:p>
          <a:p>
            <a:pPr algn="l">
              <a:spcAft>
                <a:spcPts val="800"/>
              </a:spcAft>
            </a:pPr>
            <a:r>
              <a:rPr sz="1400" b="0">
                <a:solidFill>
                  <a:srgbClr val="1F2933"/>
                </a:solidFill>
                <a:latin typeface="Calibri"/>
              </a:rPr>
              <a:t>•  Several matches: nearest first, all ids listed</a:t>
            </a:r>
          </a:p>
        </p:txBody>
      </p:sp>
      <p:sp>
        <p:nvSpPr>
          <p:cNvPr id="5" name="Rounded Rectangle 4"/>
          <p:cNvSpPr/>
          <p:nvPr/>
        </p:nvSpPr>
        <p:spPr>
          <a:xfrm>
            <a:off x="548640" y="4023360"/>
            <a:ext cx="4846320" cy="210312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4160520"/>
            <a:ext cx="4480560" cy="1920240"/>
          </a:xfrm>
          <a:prstGeom prst="rect">
            <a:avLst/>
          </a:prstGeom>
          <a:noFill/>
        </p:spPr>
        <p:txBody>
          <a:bodyPr wrap="square" anchor="t" lIns="45720" rIns="45720">
            <a:spAutoFit/>
          </a:bodyPr>
          <a:lstStyle/>
          <a:p>
            <a:pPr algn="l">
              <a:spcAft>
                <a:spcPts val="800"/>
              </a:spcAft>
            </a:pPr>
            <a:r>
              <a:rPr sz="1600" b="1">
                <a:solidFill>
                  <a:srgbClr val="1F2933"/>
                </a:solidFill>
                <a:latin typeface="Calibri"/>
              </a:rPr>
              <a:t>GetObject.srv</a:t>
            </a:r>
          </a:p>
          <a:p>
            <a:pPr algn="l">
              <a:spcAft>
                <a:spcPts val="600"/>
              </a:spcAft>
            </a:pPr>
            <a:r>
              <a:rPr sz="1400" b="0">
                <a:solidFill>
                  <a:srgbClr val="1F2933"/>
                </a:solidFill>
                <a:latin typeface="Courier New"/>
              </a:rPr>
              <a:t>Request:  color · shape · id</a:t>
            </a:r>
          </a:p>
          <a:p>
            <a:pPr algn="l">
              <a:spcAft>
                <a:spcPts val="0"/>
              </a:spcAft>
            </a:pPr>
            <a:r>
              <a:rPr sz="1400" b="0">
                <a:solidFill>
                  <a:srgbClr val="1F2933"/>
                </a:solidFill>
                <a:latin typeface="Courier New"/>
              </a:rPr>
              <a:t>Response: found · id · shape ·</a:t>
            </a:r>
          </a:p>
          <a:p>
            <a:pPr algn="l">
              <a:spcAft>
                <a:spcPts val="600"/>
              </a:spcAft>
            </a:pPr>
            <a:r>
              <a:rPr sz="1400" b="0">
                <a:solidFill>
                  <a:srgbClr val="1F2933"/>
                </a:solidFill>
                <a:latin typeface="Courier New"/>
              </a:rPr>
              <a:t>          coords · height · matches</a:t>
            </a:r>
          </a:p>
          <a:p>
            <a:pPr algn="l">
              <a:spcAft>
                <a:spcPts val="600"/>
              </a:spcAft>
            </a:pPr>
            <a:r>
              <a:rPr sz="1300" b="0">
                <a:solidFill>
                  <a:srgbClr val="5B6770"/>
                </a:solidFill>
                <a:latin typeface="Calibri"/>
              </a:rPr>
              <a:t>Old: color → coords, [1.0]×6 = not found</a:t>
            </a:r>
          </a:p>
        </p:txBody>
      </p:sp>
      <p:pic>
        <p:nvPicPr>
          <p:cNvPr id="7" name="Picture 6" descr="sort_test6.jpg"/>
          <p:cNvPicPr>
            <a:picLocks noChangeAspect="1"/>
          </p:cNvPicPr>
          <p:nvPr/>
        </p:nvPicPr>
        <p:blipFill>
          <a:blip r:embed="rId2"/>
          <a:stretch>
            <a:fillRect/>
          </a:stretch>
        </p:blipFill>
        <p:spPr>
          <a:xfrm>
            <a:off x="5715000" y="1737360"/>
            <a:ext cx="5943600" cy="1682151"/>
          </a:xfrm>
          <a:prstGeom prst="rect">
            <a:avLst/>
          </a:prstGeom>
        </p:spPr>
      </p:pic>
      <p:sp>
        <p:nvSpPr>
          <p:cNvPr id="8" name="TextBox 7"/>
          <p:cNvSpPr txBox="1"/>
          <p:nvPr/>
        </p:nvSpPr>
        <p:spPr>
          <a:xfrm>
            <a:off x="5715000" y="3456432"/>
            <a:ext cx="5943600" cy="320040"/>
          </a:xfrm>
          <a:prstGeom prst="rect">
            <a:avLst/>
          </a:prstGeom>
          <a:noFill/>
        </p:spPr>
        <p:txBody>
          <a:bodyPr wrap="square" anchor="t" lIns="45720" rIns="45720">
            <a:spAutoFit/>
          </a:bodyPr>
          <a:lstStyle/>
          <a:p>
            <a:pPr algn="l">
              <a:spcAft>
                <a:spcPts val="600"/>
              </a:spcAft>
            </a:pPr>
            <a:r>
              <a:rPr sz="1100" b="0">
                <a:solidFill>
                  <a:srgbClr val="5B6770"/>
                </a:solidFill>
                <a:latin typeface="Calibri"/>
              </a:rPr>
              <a:t>Auto sort, 10-09 15:38: before (left) and after the last pick (right)</a:t>
            </a:r>
          </a:p>
        </p:txBody>
      </p:sp>
      <p:sp>
        <p:nvSpPr>
          <p:cNvPr id="9" name="Rounded Rectangle 8"/>
          <p:cNvSpPr/>
          <p:nvPr/>
        </p:nvSpPr>
        <p:spPr>
          <a:xfrm>
            <a:off x="5715000" y="4023360"/>
            <a:ext cx="1874519" cy="210312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06440" y="4160520"/>
            <a:ext cx="1691640" cy="822960"/>
          </a:xfrm>
          <a:prstGeom prst="rect">
            <a:avLst/>
          </a:prstGeom>
          <a:noFill/>
        </p:spPr>
        <p:txBody>
          <a:bodyPr wrap="square" anchor="t" lIns="45720" rIns="45720">
            <a:spAutoFit/>
          </a:bodyPr>
          <a:lstStyle/>
          <a:p>
            <a:pPr algn="ctr">
              <a:spcAft>
                <a:spcPts val="600"/>
              </a:spcAft>
            </a:pPr>
            <a:r>
              <a:rPr sz="3000" b="1">
                <a:solidFill>
                  <a:srgbClr val="2E7D32"/>
                </a:solidFill>
                <a:latin typeface="Calibri"/>
              </a:rPr>
              <a:t>3 / 3</a:t>
            </a:r>
          </a:p>
        </p:txBody>
      </p:sp>
      <p:sp>
        <p:nvSpPr>
          <p:cNvPr id="11" name="TextBox 10"/>
          <p:cNvSpPr txBox="1"/>
          <p:nvPr/>
        </p:nvSpPr>
        <p:spPr>
          <a:xfrm>
            <a:off x="5852160" y="5029200"/>
            <a:ext cx="1600200" cy="1005840"/>
          </a:xfrm>
          <a:prstGeom prst="rect">
            <a:avLst/>
          </a:prstGeom>
          <a:noFill/>
        </p:spPr>
        <p:txBody>
          <a:bodyPr wrap="square" anchor="t" lIns="45720" rIns="45720">
            <a:spAutoFit/>
          </a:bodyPr>
          <a:lstStyle/>
          <a:p>
            <a:pPr algn="ctr">
              <a:spcAft>
                <a:spcPts val="600"/>
              </a:spcAft>
            </a:pPr>
            <a:r>
              <a:rPr sz="1300" b="0">
                <a:solidFill>
                  <a:srgbClr val="5B6770"/>
                </a:solidFill>
                <a:latin typeface="Calibri"/>
              </a:rPr>
              <a:t>objects placed in the last run, tool vertical</a:t>
            </a:r>
          </a:p>
        </p:txBody>
      </p:sp>
      <p:sp>
        <p:nvSpPr>
          <p:cNvPr id="12" name="Rounded Rectangle 11"/>
          <p:cNvSpPr/>
          <p:nvPr/>
        </p:nvSpPr>
        <p:spPr>
          <a:xfrm>
            <a:off x="7726679" y="4023360"/>
            <a:ext cx="1874519" cy="210312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18119" y="4160520"/>
            <a:ext cx="1691640" cy="822960"/>
          </a:xfrm>
          <a:prstGeom prst="rect">
            <a:avLst/>
          </a:prstGeom>
          <a:noFill/>
        </p:spPr>
        <p:txBody>
          <a:bodyPr wrap="square" anchor="t" lIns="45720" rIns="45720">
            <a:spAutoFit/>
          </a:bodyPr>
          <a:lstStyle/>
          <a:p>
            <a:pPr algn="ctr">
              <a:spcAft>
                <a:spcPts val="600"/>
              </a:spcAft>
            </a:pPr>
            <a:r>
              <a:rPr sz="3000" b="1">
                <a:solidFill>
                  <a:srgbClr val="1D4E89"/>
                </a:solidFill>
                <a:latin typeface="Calibri"/>
              </a:rPr>
              <a:t>21.6 s</a:t>
            </a:r>
          </a:p>
        </p:txBody>
      </p:sp>
      <p:sp>
        <p:nvSpPr>
          <p:cNvPr id="14" name="TextBox 13"/>
          <p:cNvSpPr txBox="1"/>
          <p:nvPr/>
        </p:nvSpPr>
        <p:spPr>
          <a:xfrm>
            <a:off x="7863840" y="5029200"/>
            <a:ext cx="1600200" cy="1005840"/>
          </a:xfrm>
          <a:prstGeom prst="rect">
            <a:avLst/>
          </a:prstGeom>
          <a:noFill/>
        </p:spPr>
        <p:txBody>
          <a:bodyPr wrap="square" anchor="t" lIns="45720" rIns="45720">
            <a:spAutoFit/>
          </a:bodyPr>
          <a:lstStyle/>
          <a:p>
            <a:pPr algn="ctr">
              <a:spcAft>
                <a:spcPts val="600"/>
              </a:spcAft>
            </a:pPr>
            <a:r>
              <a:rPr sz="1300" b="0">
                <a:solidFill>
                  <a:srgbClr val="5B6770"/>
                </a:solidFill>
                <a:latin typeface="Calibri"/>
              </a:rPr>
              <a:t>mean time per pick</a:t>
            </a:r>
          </a:p>
        </p:txBody>
      </p:sp>
      <p:sp>
        <p:nvSpPr>
          <p:cNvPr id="15" name="Rounded Rectangle 14"/>
          <p:cNvSpPr/>
          <p:nvPr/>
        </p:nvSpPr>
        <p:spPr>
          <a:xfrm>
            <a:off x="9738360" y="4023360"/>
            <a:ext cx="1874519" cy="210312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29800" y="4160520"/>
            <a:ext cx="1691640" cy="822960"/>
          </a:xfrm>
          <a:prstGeom prst="rect">
            <a:avLst/>
          </a:prstGeom>
          <a:noFill/>
        </p:spPr>
        <p:txBody>
          <a:bodyPr wrap="square" anchor="t" lIns="45720" rIns="45720">
            <a:spAutoFit/>
          </a:bodyPr>
          <a:lstStyle/>
          <a:p>
            <a:pPr algn="ctr">
              <a:spcAft>
                <a:spcPts val="600"/>
              </a:spcAft>
            </a:pPr>
            <a:r>
              <a:rPr sz="3000" b="1">
                <a:solidFill>
                  <a:srgbClr val="1F2933"/>
                </a:solidFill>
                <a:latin typeface="Calibri"/>
              </a:rPr>
              <a:t>≈ 6 mm</a:t>
            </a:r>
          </a:p>
        </p:txBody>
      </p:sp>
      <p:sp>
        <p:nvSpPr>
          <p:cNvPr id="17" name="TextBox 16"/>
          <p:cNvSpPr txBox="1"/>
          <p:nvPr/>
        </p:nvSpPr>
        <p:spPr>
          <a:xfrm>
            <a:off x="9875520" y="5029200"/>
            <a:ext cx="1600200" cy="1005840"/>
          </a:xfrm>
          <a:prstGeom prst="rect">
            <a:avLst/>
          </a:prstGeom>
          <a:noFill/>
        </p:spPr>
        <p:txBody>
          <a:bodyPr wrap="square" anchor="t" lIns="45720" rIns="45720">
            <a:spAutoFit/>
          </a:bodyPr>
          <a:lstStyle/>
          <a:p>
            <a:pPr algn="ctr">
              <a:spcAft>
                <a:spcPts val="600"/>
              </a:spcAft>
            </a:pPr>
            <a:r>
              <a:rPr sz="1300" b="0">
                <a:solidFill>
                  <a:srgbClr val="5B6770"/>
                </a:solidFill>
                <a:latin typeface="Calibri"/>
              </a:rPr>
              <a:t>constant xy offset, target → arm at contact</a:t>
            </a:r>
          </a:p>
        </p:txBody>
      </p:sp>
      <p:sp>
        <p:nvSpPr>
          <p:cNvPr id="18" name="TextBox 17"/>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a:solidFill>
                  <a:srgbClr val="5B6770"/>
                </a:solidFill>
                <a:latin typeface="Calibri"/>
              </a:rPr>
              <a:t>Lab 9 – Pick and Place with MoveIt · status 2026-10-11</a:t>
            </a:r>
          </a:p>
        </p:txBody>
      </p:sp>
      <p:sp>
        <p:nvSpPr>
          <p:cNvPr id="19" name="TextBox 18"/>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a:solidFill>
                  <a:srgbClr val="5B6770"/>
                </a:solidFill>
                <a:latin typeface="Calibri"/>
              </a:rPr>
              <a:t>5 /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65760"/>
            <a:ext cx="11064240" cy="731520"/>
          </a:xfrm>
          <a:prstGeom prst="rect">
            <a:avLst/>
          </a:prstGeom>
          <a:noFill/>
        </p:spPr>
        <p:txBody>
          <a:bodyPr wrap="square" anchor="t" lIns="45720" rIns="45720">
            <a:spAutoFit/>
          </a:bodyPr>
          <a:lstStyle/>
          <a:p>
            <a:pPr algn="l">
              <a:spcAft>
                <a:spcPts val="600"/>
              </a:spcAft>
            </a:pPr>
            <a:r>
              <a:rPr sz="3400" b="1">
                <a:solidFill>
                  <a:srgbClr val="1F2933"/>
                </a:solidFill>
                <a:latin typeface="Calibri"/>
              </a:rPr>
              <a:t>Deliverables: where we stand</a:t>
            </a:r>
          </a:p>
        </p:txBody>
      </p:sp>
      <p:sp>
        <p:nvSpPr>
          <p:cNvPr id="3" name="Subtitle"/>
          <p:cNvSpPr txBox="1"/>
          <p:nvPr/>
        </p:nvSpPr>
        <p:spPr>
          <a:xfrm>
            <a:off x="548640" y="1024128"/>
            <a:ext cx="11064240" cy="411480"/>
          </a:xfrm>
          <a:prstGeom prst="rect">
            <a:avLst/>
          </a:prstGeom>
          <a:noFill/>
        </p:spPr>
        <p:txBody>
          <a:bodyPr wrap="square" anchor="t" lIns="45720" rIns="45720">
            <a:spAutoFit/>
          </a:bodyPr>
          <a:lstStyle/>
          <a:p>
            <a:pPr algn="l">
              <a:spcAft>
                <a:spcPts val="600"/>
              </a:spcAft>
            </a:pPr>
            <a:r>
              <a:rPr sz="1600" b="0">
                <a:solidFill>
                  <a:srgbClr val="5B6770"/>
                </a:solidFill>
                <a:latin typeface="Calibri"/>
              </a:rPr>
              <a:t>3 done · 3 partly done · 3 open; the biggest gap is the Part 0 baseline</a:t>
            </a:r>
          </a:p>
        </p:txBody>
      </p:sp>
      <p:graphicFrame>
        <p:nvGraphicFramePr>
          <p:cNvPr id="4" name="Table 3"/>
          <p:cNvGraphicFramePr>
            <a:graphicFrameLocks noGrp="1"/>
          </p:cNvGraphicFramePr>
          <p:nvPr/>
        </p:nvGraphicFramePr>
        <p:xfrm>
          <a:off x="548640" y="1600200"/>
          <a:ext cx="7680960" cy="4572000"/>
        </p:xfrm>
        <a:graphic>
          <a:graphicData uri="http://schemas.openxmlformats.org/drawingml/2006/table">
            <a:tbl>
              <a:tblPr firstRow="1" bandRow="1">
                <a:tableStyleId>{5C22544A-7EE6-4342-B048-85BDC9FD1C3A}</a:tableStyleId>
              </a:tblPr>
              <a:tblGrid>
                <a:gridCol w="4114800"/>
                <a:gridCol w="1005840"/>
                <a:gridCol w="2560320"/>
              </a:tblGrid>
              <a:tr h="457200">
                <a:tc>
                  <a:txBody>
                    <a:bodyPr/>
                    <a:lstStyle/>
                    <a:p>
                      <a:r>
                        <a:rPr sz="1300" b="1">
                          <a:solidFill>
                            <a:srgbClr val="FFFFFF"/>
                          </a:solidFill>
                          <a:latin typeface="Calibri"/>
                        </a:rPr>
                        <a:t>Deliverable</a:t>
                      </a:r>
                    </a:p>
                  </a:txBody>
                  <a:tcPr marL="73152" marR="73152" anchor="ctr">
                    <a:solidFill>
                      <a:srgbClr val="1F2933"/>
                    </a:solidFill>
                  </a:tcPr>
                </a:tc>
                <a:tc>
                  <a:txBody>
                    <a:bodyPr/>
                    <a:lstStyle/>
                    <a:p>
                      <a:pPr algn="ctr"/>
                      <a:r>
                        <a:rPr sz="1300" b="1">
                          <a:solidFill>
                            <a:srgbClr val="FFFFFF"/>
                          </a:solidFill>
                          <a:latin typeface="Calibri"/>
                        </a:rPr>
                        <a:t>Status</a:t>
                      </a:r>
                    </a:p>
                  </a:txBody>
                  <a:tcPr marL="73152" marR="73152" anchor="ctr">
                    <a:solidFill>
                      <a:srgbClr val="1F2933"/>
                    </a:solidFill>
                  </a:tcPr>
                </a:tc>
                <a:tc>
                  <a:txBody>
                    <a:bodyPr/>
                    <a:lstStyle/>
                    <a:p>
                      <a:r>
                        <a:rPr sz="1300" b="1">
                          <a:solidFill>
                            <a:srgbClr val="FFFFFF"/>
                          </a:solidFill>
                          <a:latin typeface="Calibri"/>
                        </a:rPr>
                        <a:t>Evidence / gap</a:t>
                      </a:r>
                    </a:p>
                  </a:txBody>
                  <a:tcPr marL="73152" marR="73152" anchor="ctr">
                    <a:solidFill>
                      <a:srgbClr val="1F2933"/>
                    </a:solidFill>
                  </a:tcPr>
                </a:tc>
              </a:tr>
              <a:tr h="457200">
                <a:tc>
                  <a:txBody>
                    <a:bodyPr/>
                    <a:lstStyle/>
                    <a:p>
                      <a:r>
                        <a:rPr sz="1300" b="0">
                          <a:solidFill>
                            <a:srgbClr val="1F2933"/>
                          </a:solidFill>
                          <a:latin typeface="Calibri"/>
                        </a:rPr>
                        <a:t>Part 0 – run the original system, limitations</a:t>
                      </a:r>
                    </a:p>
                  </a:txBody>
                  <a:tcPr marL="73152" marR="73152" anchor="ctr">
                    <a:solidFill>
                      <a:srgbClr val="F1F3F5"/>
                    </a:solidFill>
                  </a:tcPr>
                </a:tc>
                <a:tc>
                  <a:txBody>
                    <a:bodyPr/>
                    <a:lstStyle/>
                    <a:p>
                      <a:pPr algn="ctr"/>
                      <a:r>
                        <a:rPr sz="1300" b="1">
                          <a:solidFill>
                            <a:srgbClr val="FFFFFF"/>
                          </a:solidFill>
                          <a:latin typeface="Calibri"/>
                        </a:rPr>
                        <a:t>Open</a:t>
                      </a:r>
                    </a:p>
                  </a:txBody>
                  <a:tcPr marL="73152" marR="73152" anchor="ctr">
                    <a:solidFill>
                      <a:srgbClr val="C62828"/>
                    </a:solidFill>
                  </a:tcPr>
                </a:tc>
                <a:tc>
                  <a:txBody>
                    <a:bodyPr/>
                    <a:lstStyle/>
                    <a:p>
                      <a:r>
                        <a:rPr sz="1300" b="0">
                          <a:solidFill>
                            <a:srgbClr val="1F2933"/>
                          </a:solidFill>
                          <a:latin typeface="Calibri"/>
                        </a:rPr>
                        <a:t>not run yet</a:t>
                      </a:r>
                    </a:p>
                  </a:txBody>
                  <a:tcPr marL="73152" marR="73152" anchor="ctr">
                    <a:solidFill>
                      <a:srgbClr val="F1F3F5"/>
                    </a:solidFill>
                  </a:tcPr>
                </a:tc>
              </a:tr>
              <a:tr h="457200">
                <a:tc>
                  <a:txBody>
                    <a:bodyPr/>
                    <a:lstStyle/>
                    <a:p>
                      <a:r>
                        <a:rPr sz="1300" b="0">
                          <a:solidFill>
                            <a:srgbClr val="1F2933"/>
                          </a:solidFill>
                          <a:latin typeface="Calibri"/>
                        </a:rPr>
                        <a:t>Part 0 – data-flow diagram</a:t>
                      </a:r>
                    </a:p>
                  </a:txBody>
                  <a:tcPr marL="73152" marR="73152" anchor="ctr">
                    <a:solidFill>
                      <a:srgbClr val="FFFFFF"/>
                    </a:solidFill>
                  </a:tcPr>
                </a:tc>
                <a:tc>
                  <a:txBody>
                    <a:bodyPr/>
                    <a:lstStyle/>
                    <a:p>
                      <a:pPr algn="ctr"/>
                      <a:r>
                        <a:rPr sz="1300" b="1">
                          <a:solidFill>
                            <a:srgbClr val="FFFFFF"/>
                          </a:solidFill>
                          <a:latin typeface="Calibri"/>
                        </a:rPr>
                        <a:t>Done</a:t>
                      </a:r>
                    </a:p>
                  </a:txBody>
                  <a:tcPr marL="73152" marR="73152" anchor="ctr">
                    <a:solidFill>
                      <a:srgbClr val="2E7D32"/>
                    </a:solidFill>
                  </a:tcPr>
                </a:tc>
                <a:tc>
                  <a:txBody>
                    <a:bodyPr/>
                    <a:lstStyle/>
                    <a:p>
                      <a:r>
                        <a:rPr sz="1300" b="0">
                          <a:solidFill>
                            <a:srgbClr val="1F2933"/>
                          </a:solidFill>
                          <a:latin typeface="Calibri"/>
                        </a:rPr>
                        <a:t>report §1.1</a:t>
                      </a:r>
                    </a:p>
                  </a:txBody>
                  <a:tcPr marL="73152" marR="73152" anchor="ctr">
                    <a:solidFill>
                      <a:srgbClr val="FFFFFF"/>
                    </a:solidFill>
                  </a:tcPr>
                </a:tc>
              </a:tr>
              <a:tr h="457200">
                <a:tc>
                  <a:txBody>
                    <a:bodyPr/>
                    <a:lstStyle/>
                    <a:p>
                      <a:r>
                        <a:rPr sz="1300" b="0">
                          <a:solidFill>
                            <a:srgbClr val="1F2933"/>
                          </a:solidFill>
                          <a:latin typeface="Calibri"/>
                        </a:rPr>
                        <a:t>Shape – masks, features, labels, several per colour</a:t>
                      </a:r>
                    </a:p>
                  </a:txBody>
                  <a:tcPr marL="73152" marR="73152" anchor="ctr">
                    <a:solidFill>
                      <a:srgbClr val="F1F3F5"/>
                    </a:solidFill>
                  </a:tcPr>
                </a:tc>
                <a:tc>
                  <a:txBody>
                    <a:bodyPr/>
                    <a:lstStyle/>
                    <a:p>
                      <a:pPr algn="ctr"/>
                      <a:r>
                        <a:rPr sz="1300" b="1">
                          <a:solidFill>
                            <a:srgbClr val="FFFFFF"/>
                          </a:solidFill>
                          <a:latin typeface="Calibri"/>
                        </a:rPr>
                        <a:t>Done</a:t>
                      </a:r>
                    </a:p>
                  </a:txBody>
                  <a:tcPr marL="73152" marR="73152" anchor="ctr">
                    <a:solidFill>
                      <a:srgbClr val="2E7D32"/>
                    </a:solidFill>
                  </a:tcPr>
                </a:tc>
                <a:tc>
                  <a:txBody>
                    <a:bodyPr/>
                    <a:lstStyle/>
                    <a:p>
                      <a:r>
                        <a:rPr sz="1300" b="0">
                          <a:solidFill>
                            <a:srgbClr val="1F2933"/>
                          </a:solidFill>
                          <a:latin typeface="Calibri"/>
                        </a:rPr>
                        <a:t>vision_lab9, frames</a:t>
                      </a:r>
                    </a:p>
                  </a:txBody>
                  <a:tcPr marL="73152" marR="73152" anchor="ctr">
                    <a:solidFill>
                      <a:srgbClr val="F1F3F5"/>
                    </a:solidFill>
                  </a:tcPr>
                </a:tc>
              </a:tr>
              <a:tr h="457200">
                <a:tc>
                  <a:txBody>
                    <a:bodyPr/>
                    <a:lstStyle/>
                    <a:p>
                      <a:r>
                        <a:rPr sz="1300" b="0">
                          <a:solidFill>
                            <a:srgbClr val="1F2933"/>
                          </a:solidFill>
                          <a:latin typeface="Calibri"/>
                        </a:rPr>
                        <a:t>Shape – thresholds from our camera, uncertain case</a:t>
                      </a:r>
                    </a:p>
                  </a:txBody>
                  <a:tcPr marL="73152" marR="73152" anchor="ctr">
                    <a:solidFill>
                      <a:srgbClr val="FFFFFF"/>
                    </a:solidFill>
                  </a:tcPr>
                </a:tc>
                <a:tc>
                  <a:txBody>
                    <a:bodyPr/>
                    <a:lstStyle/>
                    <a:p>
                      <a:pPr algn="ctr"/>
                      <a:r>
                        <a:rPr sz="1300" b="1">
                          <a:solidFill>
                            <a:srgbClr val="FFFFFF"/>
                          </a:solidFill>
                          <a:latin typeface="Calibri"/>
                        </a:rPr>
                        <a:t>Partial</a:t>
                      </a:r>
                    </a:p>
                  </a:txBody>
                  <a:tcPr marL="73152" marR="73152" anchor="ctr">
                    <a:solidFill>
                      <a:srgbClr val="D98E04"/>
                    </a:solidFill>
                  </a:tcPr>
                </a:tc>
                <a:tc>
                  <a:txBody>
                    <a:bodyPr/>
                    <a:lstStyle/>
                    <a:p>
                      <a:r>
                        <a:rPr sz="1300" b="0">
                          <a:solidFill>
                            <a:srgbClr val="1F2933"/>
                          </a:solidFill>
                          <a:latin typeface="Calibri"/>
                        </a:rPr>
                        <a:t>19 % of cube samples → cylinder</a:t>
                      </a:r>
                    </a:p>
                  </a:txBody>
                  <a:tcPr marL="73152" marR="73152" anchor="ctr">
                    <a:solidFill>
                      <a:srgbClr val="FFFFFF"/>
                    </a:solidFill>
                  </a:tcPr>
                </a:tc>
              </a:tr>
              <a:tr h="457200">
                <a:tc>
                  <a:txBody>
                    <a:bodyPr/>
                    <a:lstStyle/>
                    <a:p>
                      <a:r>
                        <a:rPr sz="1300" b="0">
                          <a:solidFill>
                            <a:srgbClr val="1F2933"/>
                          </a:solidFill>
                          <a:latin typeface="Calibri"/>
                        </a:rPr>
                        <a:t>Shape – queries: existing / absent / several</a:t>
                      </a:r>
                    </a:p>
                  </a:txBody>
                  <a:tcPr marL="73152" marR="73152" anchor="ctr">
                    <a:solidFill>
                      <a:srgbClr val="F1F3F5"/>
                    </a:solidFill>
                  </a:tcPr>
                </a:tc>
                <a:tc>
                  <a:txBody>
                    <a:bodyPr/>
                    <a:lstStyle/>
                    <a:p>
                      <a:pPr algn="ctr"/>
                      <a:r>
                        <a:rPr sz="1300" b="1">
                          <a:solidFill>
                            <a:srgbClr val="FFFFFF"/>
                          </a:solidFill>
                          <a:latin typeface="Calibri"/>
                        </a:rPr>
                        <a:t>Open</a:t>
                      </a:r>
                    </a:p>
                  </a:txBody>
                  <a:tcPr marL="73152" marR="73152" anchor="ctr">
                    <a:solidFill>
                      <a:srgbClr val="C62828"/>
                    </a:solidFill>
                  </a:tcPr>
                </a:tc>
                <a:tc>
                  <a:txBody>
                    <a:bodyPr/>
                    <a:lstStyle/>
                    <a:p>
                      <a:r>
                        <a:rPr sz="1300" b="0">
                          <a:solidFill>
                            <a:srgbClr val="1F2933"/>
                          </a:solidFill>
                          <a:latin typeface="Calibri"/>
                        </a:rPr>
                        <a:t>logger ready</a:t>
                      </a:r>
                    </a:p>
                  </a:txBody>
                  <a:tcPr marL="73152" marR="73152" anchor="ctr">
                    <a:solidFill>
                      <a:srgbClr val="F1F3F5"/>
                    </a:solidFill>
                  </a:tcPr>
                </a:tc>
              </a:tr>
              <a:tr h="457200">
                <a:tc>
                  <a:txBody>
                    <a:bodyPr/>
                    <a:lstStyle/>
                    <a:p>
                      <a:r>
                        <a:rPr sz="1300" b="0">
                          <a:solidFill>
                            <a:srgbClr val="1F2933"/>
                          </a:solidFill>
                          <a:latin typeface="Calibri"/>
                        </a:rPr>
                        <a:t>Interface 1–4 – service, client, BOX/CYL by id</a:t>
                      </a:r>
                    </a:p>
                  </a:txBody>
                  <a:tcPr marL="73152" marR="73152" anchor="ctr">
                    <a:solidFill>
                      <a:srgbClr val="FFFFFF"/>
                    </a:solidFill>
                  </a:tcPr>
                </a:tc>
                <a:tc>
                  <a:txBody>
                    <a:bodyPr/>
                    <a:lstStyle/>
                    <a:p>
                      <a:pPr algn="ctr"/>
                      <a:r>
                        <a:rPr sz="1300" b="1">
                          <a:solidFill>
                            <a:srgbClr val="FFFFFF"/>
                          </a:solidFill>
                          <a:latin typeface="Calibri"/>
                        </a:rPr>
                        <a:t>Done</a:t>
                      </a:r>
                    </a:p>
                  </a:txBody>
                  <a:tcPr marL="73152" marR="73152" anchor="ctr">
                    <a:solidFill>
                      <a:srgbClr val="2E7D32"/>
                    </a:solidFill>
                  </a:tcPr>
                </a:tc>
                <a:tc>
                  <a:txBody>
                    <a:bodyPr/>
                    <a:lstStyle/>
                    <a:p>
                      <a:r>
                        <a:rPr sz="1300" b="0">
                          <a:solidFill>
                            <a:srgbClr val="1F2933"/>
                          </a:solidFill>
                          <a:latin typeface="Calibri"/>
                        </a:rPr>
                        <a:t>used in every robot run</a:t>
                      </a:r>
                    </a:p>
                  </a:txBody>
                  <a:tcPr marL="73152" marR="73152" anchor="ctr">
                    <a:solidFill>
                      <a:srgbClr val="FFFFFF"/>
                    </a:solidFill>
                  </a:tcPr>
                </a:tc>
              </a:tr>
              <a:tr h="457200">
                <a:tc>
                  <a:txBody>
                    <a:bodyPr/>
                    <a:lstStyle/>
                    <a:p>
                      <a:r>
                        <a:rPr sz="1300" b="0">
                          <a:solidFill>
                            <a:srgbClr val="1F2933"/>
                          </a:solidFill>
                          <a:latin typeface="Calibri"/>
                        </a:rPr>
                        <a:t>Interface 5–6 – match list, loops, bins A–D, exit</a:t>
                      </a:r>
                    </a:p>
                  </a:txBody>
                  <a:tcPr marL="73152" marR="73152" anchor="ctr">
                    <a:solidFill>
                      <a:srgbClr val="F1F3F5"/>
                    </a:solidFill>
                  </a:tcPr>
                </a:tc>
                <a:tc>
                  <a:txBody>
                    <a:bodyPr/>
                    <a:lstStyle/>
                    <a:p>
                      <a:pPr algn="ctr"/>
                      <a:r>
                        <a:rPr sz="1300" b="1">
                          <a:solidFill>
                            <a:srgbClr val="FFFFFF"/>
                          </a:solidFill>
                          <a:latin typeface="Calibri"/>
                        </a:rPr>
                        <a:t>Partial</a:t>
                      </a:r>
                    </a:p>
                  </a:txBody>
                  <a:tcPr marL="73152" marR="73152" anchor="ctr">
                    <a:solidFill>
                      <a:srgbClr val="D98E04"/>
                    </a:solidFill>
                  </a:tcPr>
                </a:tc>
                <a:tc>
                  <a:txBody>
                    <a:bodyPr/>
                    <a:lstStyle/>
                    <a:p>
                      <a:r>
                        <a:rPr sz="1300" b="0">
                          <a:solidFill>
                            <a:srgbClr val="1F2933"/>
                          </a:solidFill>
                          <a:latin typeface="Calibri"/>
                        </a:rPr>
                        <a:t>bins per colour, q = exit</a:t>
                      </a:r>
                    </a:p>
                  </a:txBody>
                  <a:tcPr marL="73152" marR="73152" anchor="ctr">
                    <a:solidFill>
                      <a:srgbClr val="F1F3F5"/>
                    </a:solidFill>
                  </a:tcPr>
                </a:tc>
              </a:tr>
              <a:tr h="457200">
                <a:tc>
                  <a:txBody>
                    <a:bodyPr/>
                    <a:lstStyle/>
                    <a:p>
                      <a:r>
                        <a:rPr sz="1300" b="0">
                          <a:solidFill>
                            <a:srgbClr val="1F2933"/>
                          </a:solidFill>
                          <a:latin typeface="Calibri"/>
                        </a:rPr>
                        <a:t>Evaluation – extended vs original system</a:t>
                      </a:r>
                    </a:p>
                  </a:txBody>
                  <a:tcPr marL="73152" marR="73152" anchor="ctr">
                    <a:solidFill>
                      <a:srgbClr val="FFFFFF"/>
                    </a:solidFill>
                  </a:tcPr>
                </a:tc>
                <a:tc>
                  <a:txBody>
                    <a:bodyPr/>
                    <a:lstStyle/>
                    <a:p>
                      <a:pPr algn="ctr"/>
                      <a:r>
                        <a:rPr sz="1300" b="1">
                          <a:solidFill>
                            <a:srgbClr val="FFFFFF"/>
                          </a:solidFill>
                          <a:latin typeface="Calibri"/>
                        </a:rPr>
                        <a:t>Open</a:t>
                      </a:r>
                    </a:p>
                  </a:txBody>
                  <a:tcPr marL="73152" marR="73152" anchor="ctr">
                    <a:solidFill>
                      <a:srgbClr val="C62828"/>
                    </a:solidFill>
                  </a:tcPr>
                </a:tc>
                <a:tc>
                  <a:txBody>
                    <a:bodyPr/>
                    <a:lstStyle/>
                    <a:p>
                      <a:r>
                        <a:rPr sz="1300" b="0">
                          <a:solidFill>
                            <a:srgbClr val="1F2933"/>
                          </a:solidFill>
                          <a:latin typeface="Calibri"/>
                        </a:rPr>
                        <a:t>needs Part 0; 6/6 placed so far</a:t>
                      </a:r>
                    </a:p>
                  </a:txBody>
                  <a:tcPr marL="73152" marR="73152" anchor="ctr">
                    <a:solidFill>
                      <a:srgbClr val="FFFFFF"/>
                    </a:solidFill>
                  </a:tcPr>
                </a:tc>
              </a:tr>
              <a:tr h="457200">
                <a:tc>
                  <a:txBody>
                    <a:bodyPr/>
                    <a:lstStyle/>
                    <a:p>
                      <a:r>
                        <a:rPr sz="1300" b="0">
                          <a:solidFill>
                            <a:srgbClr val="1F2933"/>
                          </a:solidFill>
                          <a:latin typeface="Calibri"/>
                        </a:rPr>
                        <a:t>Report</a:t>
                      </a:r>
                    </a:p>
                  </a:txBody>
                  <a:tcPr marL="73152" marR="73152" anchor="ctr">
                    <a:solidFill>
                      <a:srgbClr val="F1F3F5"/>
                    </a:solidFill>
                  </a:tcPr>
                </a:tc>
                <a:tc>
                  <a:txBody>
                    <a:bodyPr/>
                    <a:lstStyle/>
                    <a:p>
                      <a:pPr algn="ctr"/>
                      <a:r>
                        <a:rPr sz="1300" b="1">
                          <a:solidFill>
                            <a:srgbClr val="FFFFFF"/>
                          </a:solidFill>
                          <a:latin typeface="Calibri"/>
                        </a:rPr>
                        <a:t>Partial</a:t>
                      </a:r>
                    </a:p>
                  </a:txBody>
                  <a:tcPr marL="73152" marR="73152" anchor="ctr">
                    <a:solidFill>
                      <a:srgbClr val="D98E04"/>
                    </a:solidFill>
                  </a:tcPr>
                </a:tc>
                <a:tc>
                  <a:txBody>
                    <a:bodyPr/>
                    <a:lstStyle/>
                    <a:p>
                      <a:r>
                        <a:rPr sz="1300" b="0">
                          <a:solidFill>
                            <a:srgbClr val="1F2933"/>
                          </a:solidFill>
                          <a:latin typeface="Calibri"/>
                        </a:rPr>
                        <a:t>draft with TODOs</a:t>
                      </a:r>
                    </a:p>
                  </a:txBody>
                  <a:tcPr marL="73152" marR="73152" anchor="ctr">
                    <a:solidFill>
                      <a:srgbClr val="F1F3F5"/>
                    </a:solidFill>
                  </a:tcPr>
                </a:tc>
              </a:tr>
            </a:tbl>
          </a:graphicData>
        </a:graphic>
      </p:graphicFrame>
      <p:sp>
        <p:nvSpPr>
          <p:cNvPr id="5" name="Rounded Rectangle 4"/>
          <p:cNvSpPr/>
          <p:nvPr/>
        </p:nvSpPr>
        <p:spPr>
          <a:xfrm>
            <a:off x="8549640" y="1600200"/>
            <a:ext cx="3108960" cy="457200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0" y="1737360"/>
            <a:ext cx="2743200" cy="411480"/>
          </a:xfrm>
          <a:prstGeom prst="rect">
            <a:avLst/>
          </a:prstGeom>
          <a:noFill/>
        </p:spPr>
        <p:txBody>
          <a:bodyPr wrap="square" anchor="t" lIns="45720" rIns="45720">
            <a:spAutoFit/>
          </a:bodyPr>
          <a:lstStyle/>
          <a:p>
            <a:pPr algn="l">
              <a:spcAft>
                <a:spcPts val="600"/>
              </a:spcAft>
            </a:pPr>
            <a:r>
              <a:rPr sz="1800" b="1">
                <a:solidFill>
                  <a:srgbClr val="1F2933"/>
                </a:solidFill>
                <a:latin typeface="Calibri"/>
              </a:rPr>
              <a:t>Next</a:t>
            </a:r>
          </a:p>
        </p:txBody>
      </p:sp>
      <p:sp>
        <p:nvSpPr>
          <p:cNvPr id="7" name="Oval 6"/>
          <p:cNvSpPr/>
          <p:nvPr/>
        </p:nvSpPr>
        <p:spPr>
          <a:xfrm>
            <a:off x="8778240" y="2313432"/>
            <a:ext cx="365760" cy="36576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8" name="TextBox 7"/>
          <p:cNvSpPr txBox="1"/>
          <p:nvPr/>
        </p:nvSpPr>
        <p:spPr>
          <a:xfrm>
            <a:off x="9235440" y="2286000"/>
            <a:ext cx="2331720" cy="685800"/>
          </a:xfrm>
          <a:prstGeom prst="rect">
            <a:avLst/>
          </a:prstGeom>
          <a:noFill/>
        </p:spPr>
        <p:txBody>
          <a:bodyPr wrap="square" anchor="t" lIns="45720" rIns="45720">
            <a:spAutoFit/>
          </a:bodyPr>
          <a:lstStyle/>
          <a:p>
            <a:pPr algn="l">
              <a:spcAft>
                <a:spcPts val="0"/>
              </a:spcAft>
            </a:pPr>
            <a:r>
              <a:rPr sz="1400" b="0">
                <a:solidFill>
                  <a:srgbClr val="1F2933"/>
                </a:solidFill>
                <a:latin typeface="Calibri"/>
              </a:rPr>
              <a:t>Run Part 0 with the course nodes and record it</a:t>
            </a:r>
          </a:p>
        </p:txBody>
      </p:sp>
      <p:sp>
        <p:nvSpPr>
          <p:cNvPr id="9" name="Oval 8"/>
          <p:cNvSpPr/>
          <p:nvPr/>
        </p:nvSpPr>
        <p:spPr>
          <a:xfrm>
            <a:off x="8778240" y="3063239"/>
            <a:ext cx="365760" cy="36576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0" name="TextBox 9"/>
          <p:cNvSpPr txBox="1"/>
          <p:nvPr/>
        </p:nvSpPr>
        <p:spPr>
          <a:xfrm>
            <a:off x="9235440" y="3035808"/>
            <a:ext cx="2331720" cy="685800"/>
          </a:xfrm>
          <a:prstGeom prst="rect">
            <a:avLst/>
          </a:prstGeom>
          <a:noFill/>
        </p:spPr>
        <p:txBody>
          <a:bodyPr wrap="square" anchor="t" lIns="45720" rIns="45720">
            <a:spAutoFit/>
          </a:bodyPr>
          <a:lstStyle/>
          <a:p>
            <a:pPr algn="l">
              <a:spcAft>
                <a:spcPts val="0"/>
              </a:spcAft>
            </a:pPr>
            <a:r>
              <a:rPr sz="1400" b="0">
                <a:solidFill>
                  <a:srgbClr val="1F2933"/>
                </a:solidFill>
                <a:latin typeface="Calibri"/>
              </a:rPr>
              <a:t>Record queries and ruler positions</a:t>
            </a:r>
          </a:p>
        </p:txBody>
      </p:sp>
      <p:sp>
        <p:nvSpPr>
          <p:cNvPr id="11" name="Oval 10"/>
          <p:cNvSpPr/>
          <p:nvPr/>
        </p:nvSpPr>
        <p:spPr>
          <a:xfrm>
            <a:off x="8778240" y="3813048"/>
            <a:ext cx="365760" cy="365760"/>
          </a:xfrm>
          <a:prstGeom prst="ellipse">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2" name="TextBox 11"/>
          <p:cNvSpPr txBox="1"/>
          <p:nvPr/>
        </p:nvSpPr>
        <p:spPr>
          <a:xfrm>
            <a:off x="9235440" y="3785615"/>
            <a:ext cx="2331720" cy="685800"/>
          </a:xfrm>
          <a:prstGeom prst="rect">
            <a:avLst/>
          </a:prstGeom>
          <a:noFill/>
        </p:spPr>
        <p:txBody>
          <a:bodyPr wrap="square" anchor="t" lIns="45720" rIns="45720">
            <a:spAutoFit/>
          </a:bodyPr>
          <a:lstStyle/>
          <a:p>
            <a:pPr algn="l">
              <a:spcAft>
                <a:spcPts val="0"/>
              </a:spcAft>
            </a:pPr>
            <a:r>
              <a:rPr sz="1400" b="0">
                <a:solidFill>
                  <a:srgbClr val="1F2933"/>
                </a:solidFill>
                <a:latin typeface="Calibri"/>
              </a:rPr>
              <a:t>Tighten the cylinder rule (fill ≥ 0.80)</a:t>
            </a:r>
          </a:p>
        </p:txBody>
      </p:sp>
      <p:sp>
        <p:nvSpPr>
          <p:cNvPr id="13" name="Oval 12"/>
          <p:cNvSpPr/>
          <p:nvPr/>
        </p:nvSpPr>
        <p:spPr>
          <a:xfrm>
            <a:off x="8778240" y="4562856"/>
            <a:ext cx="365760" cy="365760"/>
          </a:xfrm>
          <a:prstGeom prst="ellipse">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4" name="TextBox 13"/>
          <p:cNvSpPr txBox="1"/>
          <p:nvPr/>
        </p:nvSpPr>
        <p:spPr>
          <a:xfrm>
            <a:off x="9235440" y="4535424"/>
            <a:ext cx="2331720" cy="685800"/>
          </a:xfrm>
          <a:prstGeom prst="rect">
            <a:avLst/>
          </a:prstGeom>
          <a:noFill/>
        </p:spPr>
        <p:txBody>
          <a:bodyPr wrap="square" anchor="t" lIns="45720" rIns="45720">
            <a:spAutoFit/>
          </a:bodyPr>
          <a:lstStyle/>
          <a:p>
            <a:pPr algn="l">
              <a:spcAft>
                <a:spcPts val="0"/>
              </a:spcAft>
            </a:pPr>
            <a:r>
              <a:rPr sz="1400" b="0">
                <a:solidFill>
                  <a:srgbClr val="1F2933"/>
                </a:solidFill>
                <a:latin typeface="Calibri"/>
              </a:rPr>
              <a:t>Bins A–D and exit as in the PDF</a:t>
            </a:r>
          </a:p>
        </p:txBody>
      </p:sp>
      <p:sp>
        <p:nvSpPr>
          <p:cNvPr id="15" name="Oval 14"/>
          <p:cNvSpPr/>
          <p:nvPr/>
        </p:nvSpPr>
        <p:spPr>
          <a:xfrm>
            <a:off x="8778240" y="5312664"/>
            <a:ext cx="365760" cy="365760"/>
          </a:xfrm>
          <a:prstGeom prst="ellipse">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6" name="TextBox 15"/>
          <p:cNvSpPr txBox="1"/>
          <p:nvPr/>
        </p:nvSpPr>
        <p:spPr>
          <a:xfrm>
            <a:off x="9235440" y="5285231"/>
            <a:ext cx="2331720" cy="685800"/>
          </a:xfrm>
          <a:prstGeom prst="rect">
            <a:avLst/>
          </a:prstGeom>
          <a:noFill/>
        </p:spPr>
        <p:txBody>
          <a:bodyPr wrap="square" anchor="t" lIns="45720" rIns="45720">
            <a:spAutoFit/>
          </a:bodyPr>
          <a:lstStyle/>
          <a:p>
            <a:pPr algn="l">
              <a:spcAft>
                <a:spcPts val="0"/>
              </a:spcAft>
            </a:pPr>
            <a:r>
              <a:rPr sz="1400" b="0">
                <a:solidFill>
                  <a:srgbClr val="1F2933"/>
                </a:solidFill>
                <a:latin typeface="Calibri"/>
              </a:rPr>
              <a:t>Finish the report</a:t>
            </a:r>
          </a:p>
        </p:txBody>
      </p:sp>
      <p:sp>
        <p:nvSpPr>
          <p:cNvPr id="17" name="TextBox 16"/>
          <p:cNvSpPr txBox="1"/>
          <p:nvPr/>
        </p:nvSpPr>
        <p:spPr>
          <a:xfrm>
            <a:off x="548640" y="6400800"/>
            <a:ext cx="7315200" cy="274320"/>
          </a:xfrm>
          <a:prstGeom prst="rect">
            <a:avLst/>
          </a:prstGeom>
          <a:noFill/>
        </p:spPr>
        <p:txBody>
          <a:bodyPr wrap="square" anchor="t" lIns="45720" rIns="45720">
            <a:spAutoFit/>
          </a:bodyPr>
          <a:lstStyle/>
          <a:p>
            <a:pPr algn="l">
              <a:spcAft>
                <a:spcPts val="600"/>
              </a:spcAft>
            </a:pPr>
            <a:r>
              <a:rPr sz="1000" b="0">
                <a:solidFill>
                  <a:srgbClr val="5B6770"/>
                </a:solidFill>
                <a:latin typeface="Calibri"/>
              </a:rPr>
              <a:t>Lab 9 – Pick and Place with MoveIt · status 2026-10-11</a:t>
            </a:r>
          </a:p>
        </p:txBody>
      </p:sp>
      <p:sp>
        <p:nvSpPr>
          <p:cNvPr id="18" name="TextBox 17"/>
          <p:cNvSpPr txBox="1"/>
          <p:nvPr/>
        </p:nvSpPr>
        <p:spPr>
          <a:xfrm>
            <a:off x="10881360" y="6400800"/>
            <a:ext cx="731520" cy="274320"/>
          </a:xfrm>
          <a:prstGeom prst="rect">
            <a:avLst/>
          </a:prstGeom>
          <a:noFill/>
        </p:spPr>
        <p:txBody>
          <a:bodyPr wrap="square" anchor="t" lIns="45720" rIns="45720">
            <a:spAutoFit/>
          </a:bodyPr>
          <a:lstStyle/>
          <a:p>
            <a:pPr algn="r">
              <a:spcAft>
                <a:spcPts val="600"/>
              </a:spcAft>
            </a:pPr>
            <a:r>
              <a:rPr sz="1000" b="0">
                <a:solidFill>
                  <a:srgbClr val="5B6770"/>
                </a:solidFill>
                <a:latin typeface="Calibri"/>
              </a:rPr>
              <a:t>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